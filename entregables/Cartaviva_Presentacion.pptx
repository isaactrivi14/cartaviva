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a y evidencias" id="{a9afa1cb-02e2-a540-78ea-dcdf7dbc1170}">
          <p14:sldIdLst>
            <p14:sldId id="256"/>
            <p14:sldId id="257"/>
            <p14:sldId id="258"/>
          </p14:sldIdLst>
        </p14:section>
        <p14:section name="Qué vamos a construir" id="{f6315e84-603d-9f5a-2bea-4676462826da}">
          <p14:sldIdLst>
            <p14:sldId id="259"/>
            <p14:sldId id="260"/>
            <p14:sldId id="261"/>
          </p14:sldIdLst>
        </p14:section>
        <p14:section name="Esqueleto e identidad" id="{72b6e0f4-e8df-ded3-9286-99a0ddd6dab6}">
          <p14:sldIdLst>
            <p14:sldId id="262"/>
            <p14:sldId id="263"/>
            <p14:sldId id="264"/>
          </p14:sldIdLst>
        </p14:section>
        <p14:section name="Cómo lo trabajamos" id="{ef9d4247-e641-1a70-76e7-cf2c2ac1f55b}">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al equipo y el nombre del proyecto. Cartaviva es un proyecto articulado entre Diseño Web y Aplicaciones Web II: Diseño Web define el problema, la experiencia y el esqueleto de las pantallas; Aplicaciones Web II lo construye en Django y MySQL. En una frase: un mapa de eventos de Cartagena donde te inscribes, recibes un pase QR y entras sin que el organizador vea tu cédula ni tu teléfono.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concreto: los eventos pequeños y gratuitos de Cartagena se difunden de forma dispersa y no tienen control de asistencia. Tiene tres caras: no te enteras, te inscribes y no llegas (o el organizador no sabe cuántos llegarán), y para controlar la entrada se exponen datos como la cédula y el teléfono, lo que va contra la Ley 1581 de 2012. Pregunta del proyecto: ¿cómo puede una app web ayudar a descubrir eventos cercanos, inscribirse y validar la entrada sin exponer datos personales?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a la pregunta de control. Primero, la oferta existe: más de 200 eventos en la agenda oficial 2026 y 671 gestores culturales apoyados en 2025, cada uno difundiendo por su lado. Segundo, la pérdida de cupos: en eventos gratuitos cerca del 28% de los inscritos no llega; este dato es de una plataforma internacional, no de Cartagena, así que lo usamos como referencia. Tercero, los datos personales: la SIC ya sanciona el uso de datos sin autorización, como la multa de 670 millones a Movistar. Falta la evidencia propia del equipo: encuesta a mínimo 30 cartageneros y entrevistas a 2 o 3 organizadores.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afectados directos son los residentes que quieren asistir y los organizadores de eventos pequeños: juntas de acción comunal, colectivos culturales, clubes deportivos y emprendedores. En la app hay tres roles con permisos diferentes: Asistente, Anfitrión y Administrador. La columna de la derecha resume la regla de privacidad: el anfitrión nunca ve cédula, teléfono ni correo. La Alcaldía, el IPCC y la SIC influyen en el problema pero no usan la app en esta primera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resume el proyecto en una frase. Los seis específicos son medibles y cada uno corresponde a una parte del código: el CRUD, el mapa, los roles, el QR, las métricas y las pruebas con el despliegue. Si alguien pregunta cómo sabremos que se cumplió, la respuesta está en el objetivo 6: pruebas automatizadas y una URL pública.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de esta diapositiva es que el alcance es realista. A la izquierda está lo que se entrega funcionando; a la derecha, lo que dejamos como extensión si sobra tiempo. Los límites del pie de página son decisiones conscientes: no pedimos cédula porque la Ley 1581 exige recoger solo los datos necesarios, y la mayoría de edad se toma de la fecha de nacimiento declarada.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esqueleto de la página. Son seis pantallas pensadas primero para celular; están publicadas en Vercel y se pueden recorrer desde el celular. Las cuatro primeras son del asistente; las dos oscuras son del anfitrión. Todo texto entre corchetes en el esqueleto es un dato que vendrá de la base de datos MySQL, no un texto fijo, porque la guía no acepta datos hardcoded. Además, el MVP en Django ya implementa este flujo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miniaturas de tres pantallas del esqueleto. En Explorar, el color del marcador dice el estado del evento y los filtros están a un toque. En Mi pase, el QR no contiene nombre, cédula ni teléfono: es un código aleatorio firmado por el servidor, así que no se puede falsificar. En el escáner, el anfitrión usa la cámara de su celular sin instalar otra app y solo ve lo necesario para dejar entrar a la persona. Ese es el corazón de la propuesta: confianza sin exponer datos, como pide la Ley 1581.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paleta sale de la ciudad: el azul del mar Caribe para las acciones principales, el amarillo del sol para destacar planes relámpago y últimos cupos, el azul oscuro colonial para el texto y el blanco arena de fondo. Las cuatro reglas de abajo son las que seguimos en todas las pantallas: diseño primero para celular porque en Cartagena casi todos se conectan desde el móvil, contraste accesible, animaciones cortas que dan respuesta inmediata, y una forma consistente.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desarrollo incremental basado en un MVP, como pide la guía de Aplicaciones Web II. Son cinco fases y cada una termina con algo que se puede mostrar funcionando. El trabajo de Diseño Web, que es este entregable, alimenta la fase 1: el esqueleto se convierte en las plantillas HTML de Django. Cada integrante hace sus propios commits para que la participación quede verificable.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respondiendo la pregunta de control con las tres evidencias. Luego decir qué se entrega hoy: la ficha, el esqueleto publicado en Vercel, el MVP funcionando en Django y esta presentación. Y cuál es el siguiente paso: recoger evidencia propia con la encuesta y las entrevistas, y conectar el MVP a MySQL para desplegarlo. Abrir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557"/>
        </a:solidFill>
      </p:bgPr>
    </p:bg>
    <p:spTree>
      <p:nvGrpSpPr>
        <p:cNvPr id="1" name=""/>
        <p:cNvGrpSpPr/>
        <p:nvPr/>
      </p:nvGrpSpPr>
      <p:grpSpPr>
        <a:xfrm>
          <a:off x="0" y="0"/>
          <a:ext cx="0" cy="0"/>
          <a:chOff x="0" y="0"/>
          <a:chExt cx="0" cy="0"/>
        </a:xfrm>
      </p:grpSpPr>
      <p:sp>
        <p:nvSpPr>
          <p:cNvPr id="2" name="panel-azul"/>
          <p:cNvSpPr/>
          <p:nvPr/>
        </p:nvSpPr>
        <p:spPr>
          <a:xfrm>
            <a:off x="7863840" y="0"/>
            <a:ext cx="4327855" cy="6858000"/>
          </a:xfrm>
          <a:prstGeom prst="rect">
            <a:avLst/>
          </a:prstGeom>
          <a:solidFill>
            <a:srgbClr val="0077B6"/>
          </a:solidFill>
          <a:ln w="12700">
            <a:solidFill>
              <a:srgbClr val="0077B6"/>
            </a:solidFill>
            <a:prstDash val="solid"/>
          </a:ln>
        </p:spPr>
      </p:sp>
      <p:sp>
        <p:nvSpPr>
          <p:cNvPr id="3" name="panel-sol"/>
          <p:cNvSpPr/>
          <p:nvPr/>
        </p:nvSpPr>
        <p:spPr>
          <a:xfrm>
            <a:off x="7863840" y="4846320"/>
            <a:ext cx="4327855" cy="2011680"/>
          </a:xfrm>
          <a:prstGeom prst="rect">
            <a:avLst/>
          </a:prstGeom>
          <a:solidFill>
            <a:srgbClr val="F77F00"/>
          </a:solidFill>
          <a:ln w="12700">
            <a:solidFill>
              <a:srgbClr val="F77F00"/>
            </a:solidFill>
            <a:prstDash val="solid"/>
          </a:ln>
        </p:spPr>
      </p:sp>
      <p:sp>
        <p:nvSpPr>
          <p:cNvPr id="4" name="circulo"/>
          <p:cNvSpPr/>
          <p:nvPr/>
        </p:nvSpPr>
        <p:spPr>
          <a:xfrm>
            <a:off x="8686800" y="1188720"/>
            <a:ext cx="2560320" cy="2560320"/>
          </a:xfrm>
          <a:prstGeom prst="ellipse">
            <a:avLst/>
          </a:prstGeom>
          <a:solidFill>
            <a:srgbClr val="0077B6"/>
          </a:solidFill>
          <a:ln w="63500">
            <a:solidFill>
              <a:srgbClr val="F8F9FA">
                <a:alpha val="40000"/>
              </a:srgbClr>
            </a:solidFill>
            <a:prstDash val="solid"/>
          </a:ln>
        </p:spPr>
      </p:sp>
      <p:sp>
        <p:nvSpPr>
          <p:cNvPr id="5" name="Text 3"/>
          <p:cNvSpPr txBox="1"/>
          <p:nvPr/>
        </p:nvSpPr>
        <p:spPr>
          <a:xfrm>
            <a:off x="640080" y="822960"/>
            <a:ext cx="6949440" cy="365760"/>
          </a:xfrm>
          <a:prstGeom prst="rect">
            <a:avLst/>
          </a:prstGeom>
          <a:noFill/>
          <a:ln/>
        </p:spPr>
        <p:txBody>
          <a:bodyPr wrap="square" lIns="0" tIns="0" rIns="0" bIns="0" rtlCol="0" anchor="t"/>
          <a:lstStyle/>
          <a:p>
            <a:pPr indent="0" marL="0">
              <a:buNone/>
            </a:pPr>
            <a:r>
              <a:rPr lang="en-US" sz="1400" b="1" spc="300" kern="0" dirty="0">
                <a:solidFill>
                  <a:srgbClr val="F77F00"/>
                </a:solidFill>
                <a:latin typeface="Calibri" pitchFamily="34" charset="0"/>
                <a:ea typeface="Calibri" pitchFamily="34" charset="-122"/>
                <a:cs typeface="Calibri" pitchFamily="34" charset="-120"/>
              </a:rPr>
              <a:t>ENTREGABLE 1 · DESCUBRIR Y DEFINIR</a:t>
            </a:r>
            <a:endParaRPr lang="en-US" sz="1400" dirty="0"/>
          </a:p>
        </p:txBody>
      </p:sp>
      <p:sp>
        <p:nvSpPr>
          <p:cNvPr id="6" name="Text 4"/>
          <p:cNvSpPr txBox="1"/>
          <p:nvPr/>
        </p:nvSpPr>
        <p:spPr>
          <a:xfrm>
            <a:off x="640080" y="1280160"/>
            <a:ext cx="6949440" cy="1188720"/>
          </a:xfrm>
          <a:prstGeom prst="rect">
            <a:avLst/>
          </a:prstGeom>
          <a:noFill/>
          <a:ln/>
        </p:spPr>
        <p:txBody>
          <a:bodyPr wrap="square" lIns="0" tIns="0" rIns="0" bIns="0" rtlCol="0" anchor="t"/>
          <a:lstStyle/>
          <a:p>
            <a:pPr indent="0" marL="0">
              <a:buNone/>
            </a:pPr>
            <a:r>
              <a:rPr lang="en-US" sz="7200" b="1" dirty="0">
                <a:solidFill>
                  <a:srgbClr val="F8F9FA"/>
                </a:solidFill>
                <a:latin typeface="Calibri" pitchFamily="34" charset="0"/>
                <a:ea typeface="Calibri" pitchFamily="34" charset="-122"/>
                <a:cs typeface="Calibri" pitchFamily="34" charset="-120"/>
              </a:rPr>
              <a:t>Cartaviva</a:t>
            </a:r>
            <a:endParaRPr lang="en-US" sz="7200" dirty="0"/>
          </a:p>
        </p:txBody>
      </p:sp>
      <p:sp>
        <p:nvSpPr>
          <p:cNvPr id="7" name="Text 5"/>
          <p:cNvSpPr txBox="1"/>
          <p:nvPr/>
        </p:nvSpPr>
        <p:spPr>
          <a:xfrm>
            <a:off x="640080" y="2560320"/>
            <a:ext cx="6766560" cy="1188720"/>
          </a:xfrm>
          <a:prstGeom prst="rect">
            <a:avLst/>
          </a:prstGeom>
          <a:noFill/>
          <a:ln/>
        </p:spPr>
        <p:txBody>
          <a:bodyPr wrap="square" lIns="0" tIns="0" rIns="0" bIns="0" rtlCol="0" anchor="t"/>
          <a:lstStyle/>
          <a:p>
            <a:pPr indent="0" marL="0">
              <a:buNone/>
            </a:pPr>
            <a:r>
              <a:rPr lang="en-US" sz="2200" dirty="0">
                <a:solidFill>
                  <a:srgbClr val="DCE6F0"/>
                </a:solidFill>
                <a:latin typeface="Calibri" pitchFamily="34" charset="0"/>
                <a:ea typeface="Calibri" pitchFamily="34" charset="-122"/>
                <a:cs typeface="Calibri" pitchFamily="34" charset="-120"/>
              </a:rPr>
              <a:t>Eventos comunitarios de Cartagena en un mapa, con inscripción y check-in QR que protege tus datos.</a:t>
            </a:r>
            <a:endParaRPr lang="en-US" sz="2200" dirty="0"/>
          </a:p>
        </p:txBody>
      </p:sp>
      <p:sp>
        <p:nvSpPr>
          <p:cNvPr id="8" name="Text 6"/>
          <p:cNvSpPr txBox="1"/>
          <p:nvPr/>
        </p:nvSpPr>
        <p:spPr>
          <a:xfrm>
            <a:off x="640080" y="5120640"/>
            <a:ext cx="6949440" cy="640080"/>
          </a:xfrm>
          <a:prstGeom prst="rect">
            <a:avLst/>
          </a:prstGeom>
          <a:noFill/>
          <a:ln/>
        </p:spPr>
        <p:txBody>
          <a:bodyPr wrap="square" lIns="0" tIns="0" rIns="0" bIns="0" rtlCol="0" anchor="t"/>
          <a:lstStyle/>
          <a:p>
            <a:pPr indent="0" marL="0">
              <a:buNone/>
            </a:pPr>
            <a:r>
              <a:rPr lang="en-US" sz="1400" b="1" dirty="0">
                <a:solidFill>
                  <a:srgbClr val="F8F9FA"/>
                </a:solidFill>
                <a:latin typeface="Calibri" pitchFamily="34" charset="0"/>
                <a:ea typeface="Calibri" pitchFamily="34" charset="-122"/>
                <a:cs typeface="Calibri" pitchFamily="34" charset="-120"/>
              </a:rPr>
              <a:t>Katiusca Quiroz · Miguel Ortega · Gabriel Ruiz Rivera · Isaac David Triviño Ruiz · Jhon Perez</a:t>
            </a:r>
            <a:endParaRPr lang="en-US" sz="1400" dirty="0"/>
          </a:p>
        </p:txBody>
      </p:sp>
      <p:sp>
        <p:nvSpPr>
          <p:cNvPr id="9" name="Text 7"/>
          <p:cNvSpPr txBox="1"/>
          <p:nvPr/>
        </p:nvSpPr>
        <p:spPr>
          <a:xfrm>
            <a:off x="640080" y="5806440"/>
            <a:ext cx="6949440" cy="365760"/>
          </a:xfrm>
          <a:prstGeom prst="rect">
            <a:avLst/>
          </a:prstGeom>
          <a:noFill/>
          <a:ln/>
        </p:spPr>
        <p:txBody>
          <a:bodyPr wrap="square" lIns="0" tIns="0" rIns="0" bIns="0" rtlCol="0" anchor="t"/>
          <a:lstStyle/>
          <a:p>
            <a:pPr indent="0" marL="0">
              <a:buNone/>
            </a:pPr>
            <a:r>
              <a:rPr lang="en-US" sz="1200" dirty="0">
                <a:solidFill>
                  <a:srgbClr val="B8C8DA"/>
                </a:solidFill>
                <a:latin typeface="Calibri" pitchFamily="34" charset="0"/>
                <a:ea typeface="Calibri" pitchFamily="34" charset="-122"/>
                <a:cs typeface="Calibri" pitchFamily="34" charset="-120"/>
              </a:rPr>
              <a:t>Diseño Web + Aplicaciones Web II · Institución Universitaria Rafael Núñez ·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SITUACIÓN PROBLEMÁTICA</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Cartagena tiene muchos eventos, pero no un canal confiable para encontrarlos y entrar</a:t>
            </a:r>
            <a:endParaRPr lang="en-US" sz="3200" dirty="0"/>
          </a:p>
        </p:txBody>
      </p:sp>
      <p:sp>
        <p:nvSpPr>
          <p:cNvPr id="4" name="cara-1"/>
          <p:cNvSpPr/>
          <p:nvPr/>
        </p:nvSpPr>
        <p:spPr>
          <a:xfrm>
            <a:off x="548640" y="2103120"/>
            <a:ext cx="3484778" cy="4023360"/>
          </a:xfrm>
          <a:prstGeom prst="roundRect">
            <a:avLst>
              <a:gd name="adj" fmla="val 3149"/>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5" name="Shape 3"/>
          <p:cNvSpPr/>
          <p:nvPr/>
        </p:nvSpPr>
        <p:spPr>
          <a:xfrm>
            <a:off x="868680" y="2423160"/>
            <a:ext cx="685800" cy="685800"/>
          </a:xfrm>
          <a:prstGeom prst="ellipse">
            <a:avLst/>
          </a:prstGeom>
          <a:solidFill>
            <a:srgbClr val="E3F1F9"/>
          </a:solidFill>
          <a:ln w="12700">
            <a:solidFill>
              <a:srgbClr val="E3F1F9"/>
            </a:solidFill>
            <a:prstDash val="solid"/>
          </a:ln>
        </p:spPr>
      </p:sp>
      <p:sp>
        <p:nvSpPr>
          <p:cNvPr id="6" name="Text 4"/>
          <p:cNvSpPr txBox="1"/>
          <p:nvPr/>
        </p:nvSpPr>
        <p:spPr>
          <a:xfrm>
            <a:off x="868680" y="2423160"/>
            <a:ext cx="685800" cy="685800"/>
          </a:xfrm>
          <a:prstGeom prst="rect">
            <a:avLst/>
          </a:prstGeom>
          <a:noFill/>
          <a:ln/>
        </p:spPr>
        <p:txBody>
          <a:bodyPr wrap="square" lIns="0" tIns="0" rIns="0" bIns="0" rtlCol="0" anchor="ctr"/>
          <a:lstStyle/>
          <a:p>
            <a:pPr algn="ctr" indent="0" marL="0">
              <a:buNone/>
            </a:pPr>
            <a:r>
              <a:rPr lang="en-US" sz="2400" b="1" dirty="0">
                <a:solidFill>
                  <a:srgbClr val="0077B6"/>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868680" y="3337560"/>
            <a:ext cx="2844698" cy="822960"/>
          </a:xfrm>
          <a:prstGeom prst="rect">
            <a:avLst/>
          </a:prstGeom>
          <a:noFill/>
          <a:ln/>
        </p:spPr>
        <p:txBody>
          <a:bodyPr wrap="square" lIns="0" tIns="0" rIns="0" bIns="0" rtlCol="0" anchor="t"/>
          <a:lstStyle/>
          <a:p>
            <a:pPr indent="0" marL="0">
              <a:buNone/>
            </a:pPr>
            <a:r>
              <a:rPr lang="en-US" sz="2000" b="1" dirty="0">
                <a:solidFill>
                  <a:srgbClr val="1D3557"/>
                </a:solidFill>
                <a:latin typeface="Calibri" pitchFamily="34" charset="0"/>
                <a:ea typeface="Calibri" pitchFamily="34" charset="-122"/>
                <a:cs typeface="Calibri" pitchFamily="34" charset="-120"/>
              </a:rPr>
              <a:t>Descubrimiento disperso</a:t>
            </a:r>
            <a:endParaRPr lang="en-US" sz="2000" dirty="0"/>
          </a:p>
        </p:txBody>
      </p:sp>
      <p:sp>
        <p:nvSpPr>
          <p:cNvPr id="8" name="Text 6"/>
          <p:cNvSpPr txBox="1"/>
          <p:nvPr/>
        </p:nvSpPr>
        <p:spPr>
          <a:xfrm>
            <a:off x="868680" y="4206240"/>
            <a:ext cx="2844698" cy="1737360"/>
          </a:xfrm>
          <a:prstGeom prst="rect">
            <a:avLst/>
          </a:prstGeom>
          <a:noFill/>
          <a:ln/>
        </p:spPr>
        <p:txBody>
          <a:bodyPr wrap="square" lIns="0" tIns="0" rIns="0" bIns="0" rtlCol="0" anchor="t"/>
          <a:lstStyle/>
          <a:p>
            <a:pPr indent="0" marL="0">
              <a:lnSpc>
                <a:spcPct val="115000"/>
              </a:lnSpc>
              <a:buNone/>
            </a:pPr>
            <a:r>
              <a:rPr lang="en-US" sz="1500" dirty="0">
                <a:solidFill>
                  <a:srgbClr val="3E5068"/>
                </a:solidFill>
                <a:latin typeface="Calibri" pitchFamily="34" charset="0"/>
                <a:ea typeface="Calibri" pitchFamily="34" charset="-122"/>
                <a:cs typeface="Calibri" pitchFamily="34" charset="-120"/>
              </a:rPr>
              <a:t>Cada organizador publica por su cuenta en WhatsApp, Instagram o carteles. Si no estás en el grupo correcto, no te enteras.</a:t>
            </a:r>
            <a:endParaRPr lang="en-US" sz="1500" dirty="0"/>
          </a:p>
        </p:txBody>
      </p:sp>
      <p:sp>
        <p:nvSpPr>
          <p:cNvPr id="9" name="cara-2"/>
          <p:cNvSpPr/>
          <p:nvPr/>
        </p:nvSpPr>
        <p:spPr>
          <a:xfrm>
            <a:off x="4353458" y="2103120"/>
            <a:ext cx="3484778" cy="4023360"/>
          </a:xfrm>
          <a:prstGeom prst="roundRect">
            <a:avLst>
              <a:gd name="adj" fmla="val 3149"/>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0" name="Shape 8"/>
          <p:cNvSpPr/>
          <p:nvPr/>
        </p:nvSpPr>
        <p:spPr>
          <a:xfrm>
            <a:off x="4673498" y="2423160"/>
            <a:ext cx="685800" cy="685800"/>
          </a:xfrm>
          <a:prstGeom prst="ellipse">
            <a:avLst/>
          </a:prstGeom>
          <a:solidFill>
            <a:srgbClr val="E3F1F9"/>
          </a:solidFill>
          <a:ln w="12700">
            <a:solidFill>
              <a:srgbClr val="E3F1F9"/>
            </a:solidFill>
            <a:prstDash val="solid"/>
          </a:ln>
        </p:spPr>
      </p:sp>
      <p:sp>
        <p:nvSpPr>
          <p:cNvPr id="11" name="Text 9"/>
          <p:cNvSpPr txBox="1"/>
          <p:nvPr/>
        </p:nvSpPr>
        <p:spPr>
          <a:xfrm>
            <a:off x="4673498" y="2423160"/>
            <a:ext cx="685800" cy="685800"/>
          </a:xfrm>
          <a:prstGeom prst="rect">
            <a:avLst/>
          </a:prstGeom>
          <a:noFill/>
          <a:ln/>
        </p:spPr>
        <p:txBody>
          <a:bodyPr wrap="square" lIns="0" tIns="0" rIns="0" bIns="0" rtlCol="0" anchor="ctr"/>
          <a:lstStyle/>
          <a:p>
            <a:pPr algn="ctr" indent="0" marL="0">
              <a:buNone/>
            </a:pPr>
            <a:r>
              <a:rPr lang="en-US" sz="2400" b="1" dirty="0">
                <a:solidFill>
                  <a:srgbClr val="0077B6"/>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4673498" y="3337560"/>
            <a:ext cx="2844698" cy="822960"/>
          </a:xfrm>
          <a:prstGeom prst="rect">
            <a:avLst/>
          </a:prstGeom>
          <a:noFill/>
          <a:ln/>
        </p:spPr>
        <p:txBody>
          <a:bodyPr wrap="square" lIns="0" tIns="0" rIns="0" bIns="0" rtlCol="0" anchor="t"/>
          <a:lstStyle/>
          <a:p>
            <a:pPr indent="0" marL="0">
              <a:buNone/>
            </a:pPr>
            <a:r>
              <a:rPr lang="en-US" sz="2000" b="1" dirty="0">
                <a:solidFill>
                  <a:srgbClr val="1D3557"/>
                </a:solidFill>
                <a:latin typeface="Calibri" pitchFamily="34" charset="0"/>
                <a:ea typeface="Calibri" pitchFamily="34" charset="-122"/>
                <a:cs typeface="Calibri" pitchFamily="34" charset="-120"/>
              </a:rPr>
              <a:t>Inscripción sin compromiso</a:t>
            </a:r>
            <a:endParaRPr lang="en-US" sz="2000" dirty="0"/>
          </a:p>
        </p:txBody>
      </p:sp>
      <p:sp>
        <p:nvSpPr>
          <p:cNvPr id="13" name="Text 11"/>
          <p:cNvSpPr txBox="1"/>
          <p:nvPr/>
        </p:nvSpPr>
        <p:spPr>
          <a:xfrm>
            <a:off x="4673498" y="4206240"/>
            <a:ext cx="2844698" cy="1737360"/>
          </a:xfrm>
          <a:prstGeom prst="rect">
            <a:avLst/>
          </a:prstGeom>
          <a:noFill/>
          <a:ln/>
        </p:spPr>
        <p:txBody>
          <a:bodyPr wrap="square" lIns="0" tIns="0" rIns="0" bIns="0" rtlCol="0" anchor="t"/>
          <a:lstStyle/>
          <a:p>
            <a:pPr indent="0" marL="0">
              <a:lnSpc>
                <a:spcPct val="115000"/>
              </a:lnSpc>
              <a:buNone/>
            </a:pPr>
            <a:r>
              <a:rPr lang="en-US" sz="1500" dirty="0">
                <a:solidFill>
                  <a:srgbClr val="3E5068"/>
                </a:solidFill>
                <a:latin typeface="Calibri" pitchFamily="34" charset="0"/>
                <a:ea typeface="Calibri" pitchFamily="34" charset="-122"/>
                <a:cs typeface="Calibri" pitchFamily="34" charset="-120"/>
              </a:rPr>
              <a:t>En los eventos gratuitos muchos inscritos no llegan. El organizador no sabe cuántos vendrán y se pierden cupos.</a:t>
            </a:r>
            <a:endParaRPr lang="en-US" sz="1500" dirty="0"/>
          </a:p>
        </p:txBody>
      </p:sp>
      <p:sp>
        <p:nvSpPr>
          <p:cNvPr id="14" name="cara-3"/>
          <p:cNvSpPr/>
          <p:nvPr/>
        </p:nvSpPr>
        <p:spPr>
          <a:xfrm>
            <a:off x="8158277" y="2103120"/>
            <a:ext cx="3484778" cy="4023360"/>
          </a:xfrm>
          <a:prstGeom prst="roundRect">
            <a:avLst>
              <a:gd name="adj" fmla="val 3149"/>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5" name="Shape 13"/>
          <p:cNvSpPr/>
          <p:nvPr/>
        </p:nvSpPr>
        <p:spPr>
          <a:xfrm>
            <a:off x="8478317" y="2423160"/>
            <a:ext cx="685800" cy="685800"/>
          </a:xfrm>
          <a:prstGeom prst="ellipse">
            <a:avLst/>
          </a:prstGeom>
          <a:solidFill>
            <a:srgbClr val="E3F1F9"/>
          </a:solidFill>
          <a:ln w="12700">
            <a:solidFill>
              <a:srgbClr val="E3F1F9"/>
            </a:solidFill>
            <a:prstDash val="solid"/>
          </a:ln>
        </p:spPr>
      </p:sp>
      <p:sp>
        <p:nvSpPr>
          <p:cNvPr id="16" name="Text 14"/>
          <p:cNvSpPr txBox="1"/>
          <p:nvPr/>
        </p:nvSpPr>
        <p:spPr>
          <a:xfrm>
            <a:off x="8478317" y="2423160"/>
            <a:ext cx="685800" cy="685800"/>
          </a:xfrm>
          <a:prstGeom prst="rect">
            <a:avLst/>
          </a:prstGeom>
          <a:noFill/>
          <a:ln/>
        </p:spPr>
        <p:txBody>
          <a:bodyPr wrap="square" lIns="0" tIns="0" rIns="0" bIns="0" rtlCol="0" anchor="ctr"/>
          <a:lstStyle/>
          <a:p>
            <a:pPr algn="ctr" indent="0" marL="0">
              <a:buNone/>
            </a:pPr>
            <a:r>
              <a:rPr lang="en-US" sz="2400" b="1" dirty="0">
                <a:solidFill>
                  <a:srgbClr val="0077B6"/>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8478317" y="3337560"/>
            <a:ext cx="2844698" cy="822960"/>
          </a:xfrm>
          <a:prstGeom prst="rect">
            <a:avLst/>
          </a:prstGeom>
          <a:noFill/>
          <a:ln/>
        </p:spPr>
        <p:txBody>
          <a:bodyPr wrap="square" lIns="0" tIns="0" rIns="0" bIns="0" rtlCol="0" anchor="t"/>
          <a:lstStyle/>
          <a:p>
            <a:pPr indent="0" marL="0">
              <a:buNone/>
            </a:pPr>
            <a:r>
              <a:rPr lang="en-US" sz="2000" b="1" dirty="0">
                <a:solidFill>
                  <a:srgbClr val="1D3557"/>
                </a:solidFill>
                <a:latin typeface="Calibri" pitchFamily="34" charset="0"/>
                <a:ea typeface="Calibri" pitchFamily="34" charset="-122"/>
                <a:cs typeface="Calibri" pitchFamily="34" charset="-120"/>
              </a:rPr>
              <a:t>Datos personales expuestos</a:t>
            </a:r>
            <a:endParaRPr lang="en-US" sz="2000" dirty="0"/>
          </a:p>
        </p:txBody>
      </p:sp>
      <p:sp>
        <p:nvSpPr>
          <p:cNvPr id="18" name="Text 16"/>
          <p:cNvSpPr txBox="1"/>
          <p:nvPr/>
        </p:nvSpPr>
        <p:spPr>
          <a:xfrm>
            <a:off x="8478317" y="4206240"/>
            <a:ext cx="2844698" cy="1737360"/>
          </a:xfrm>
          <a:prstGeom prst="rect">
            <a:avLst/>
          </a:prstGeom>
          <a:noFill/>
          <a:ln/>
        </p:spPr>
        <p:txBody>
          <a:bodyPr wrap="square" lIns="0" tIns="0" rIns="0" bIns="0" rtlCol="0" anchor="t"/>
          <a:lstStyle/>
          <a:p>
            <a:pPr indent="0" marL="0">
              <a:lnSpc>
                <a:spcPct val="115000"/>
              </a:lnSpc>
              <a:buNone/>
            </a:pPr>
            <a:r>
              <a:rPr lang="en-US" sz="1500" dirty="0">
                <a:solidFill>
                  <a:srgbClr val="3E5068"/>
                </a:solidFill>
                <a:latin typeface="Calibri" pitchFamily="34" charset="0"/>
                <a:ea typeface="Calibri" pitchFamily="34" charset="-122"/>
                <a:cs typeface="Calibri" pitchFamily="34" charset="-120"/>
              </a:rPr>
              <a:t>Para entrar se usan listas con nombre, cédula y teléfono que cualquiera en la puerta puede ver.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EVIDENCIAS · ¿QUÉ DEMUESTRA QUE EL PROBLEMA EXISTE?</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Hay oferta, hay pérdida de cupos y hay sanciones por datos</a:t>
            </a:r>
            <a:endParaRPr lang="en-US" sz="3200" dirty="0"/>
          </a:p>
        </p:txBody>
      </p:sp>
      <p:sp>
        <p:nvSpPr>
          <p:cNvPr id="4" name="evidencia-1"/>
          <p:cNvSpPr/>
          <p:nvPr/>
        </p:nvSpPr>
        <p:spPr>
          <a:xfrm>
            <a:off x="548640" y="2103120"/>
            <a:ext cx="2567864" cy="3566160"/>
          </a:xfrm>
          <a:prstGeom prst="roundRect">
            <a:avLst>
              <a:gd name="adj" fmla="val 4273"/>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5" name="Text 3"/>
          <p:cNvSpPr txBox="1"/>
          <p:nvPr/>
        </p:nvSpPr>
        <p:spPr>
          <a:xfrm>
            <a:off x="822960" y="2377440"/>
            <a:ext cx="2019224" cy="914400"/>
          </a:xfrm>
          <a:prstGeom prst="rect">
            <a:avLst/>
          </a:prstGeom>
          <a:noFill/>
          <a:ln/>
        </p:spPr>
        <p:txBody>
          <a:bodyPr wrap="square" lIns="0" tIns="0" rIns="0" bIns="0" rtlCol="0" anchor="t"/>
          <a:lstStyle/>
          <a:p>
            <a:pPr indent="0" marL="0">
              <a:buNone/>
            </a:pPr>
            <a:r>
              <a:rPr lang="en-US" sz="4400" b="1" dirty="0">
                <a:solidFill>
                  <a:srgbClr val="0077B6"/>
                </a:solidFill>
                <a:latin typeface="Calibri" pitchFamily="34" charset="0"/>
                <a:ea typeface="Calibri" pitchFamily="34" charset="-122"/>
                <a:cs typeface="Calibri" pitchFamily="34" charset="-120"/>
              </a:rPr>
              <a:t>+200</a:t>
            </a:r>
            <a:endParaRPr lang="en-US" sz="4400" dirty="0"/>
          </a:p>
        </p:txBody>
      </p:sp>
      <p:sp>
        <p:nvSpPr>
          <p:cNvPr id="6" name="Text 4"/>
          <p:cNvSpPr txBox="1"/>
          <p:nvPr/>
        </p:nvSpPr>
        <p:spPr>
          <a:xfrm>
            <a:off x="822960" y="3383280"/>
            <a:ext cx="2019224" cy="1463040"/>
          </a:xfrm>
          <a:prstGeom prst="rect">
            <a:avLst/>
          </a:prstGeom>
          <a:noFill/>
          <a:ln/>
        </p:spPr>
        <p:txBody>
          <a:bodyPr wrap="square" lIns="0" tIns="0" rIns="0" bIns="0" rtlCol="0" anchor="t"/>
          <a:lstStyle/>
          <a:p>
            <a:pPr indent="0" marL="0">
              <a:lnSpc>
                <a:spcPct val="110000"/>
              </a:lnSpc>
              <a:buNone/>
            </a:pPr>
            <a:r>
              <a:rPr lang="en-US" sz="1500" dirty="0">
                <a:solidFill>
                  <a:srgbClr val="1D3557"/>
                </a:solidFill>
                <a:latin typeface="Calibri" pitchFamily="34" charset="0"/>
                <a:ea typeface="Calibri" pitchFamily="34" charset="-122"/>
                <a:cs typeface="Calibri" pitchFamily="34" charset="-120"/>
              </a:rPr>
              <a:t>eventos en la agenda cultural 2026 de la Alcaldía y el IPCC</a:t>
            </a:r>
            <a:endParaRPr lang="en-US" sz="1500" dirty="0"/>
          </a:p>
        </p:txBody>
      </p:sp>
      <p:sp>
        <p:nvSpPr>
          <p:cNvPr id="7" name="Text 5"/>
          <p:cNvSpPr txBox="1"/>
          <p:nvPr/>
        </p:nvSpPr>
        <p:spPr>
          <a:xfrm>
            <a:off x="822960" y="5029200"/>
            <a:ext cx="2019224" cy="457200"/>
          </a:xfrm>
          <a:prstGeom prst="rect">
            <a:avLst/>
          </a:prstGeom>
          <a:noFill/>
          <a:ln/>
        </p:spPr>
        <p:txBody>
          <a:bodyPr wrap="square" lIns="0" tIns="0" rIns="0" bIns="0" rtlCol="0" anchor="t"/>
          <a:lstStyle/>
          <a:p>
            <a:pPr indent="0" marL="0">
              <a:buNone/>
            </a:pPr>
            <a:r>
              <a:rPr lang="en-US" sz="1100" dirty="0">
                <a:solidFill>
                  <a:srgbClr val="4A5B70"/>
                </a:solidFill>
                <a:latin typeface="Calibri" pitchFamily="34" charset="0"/>
                <a:ea typeface="Calibri" pitchFamily="34" charset="-122"/>
                <a:cs typeface="Calibri" pitchFamily="34" charset="-120"/>
              </a:rPr>
              <a:t>El Universal, ene 2026</a:t>
            </a:r>
            <a:endParaRPr lang="en-US" sz="1100" dirty="0"/>
          </a:p>
        </p:txBody>
      </p:sp>
      <p:sp>
        <p:nvSpPr>
          <p:cNvPr id="8" name="evidencia-2"/>
          <p:cNvSpPr/>
          <p:nvPr/>
        </p:nvSpPr>
        <p:spPr>
          <a:xfrm>
            <a:off x="3390824" y="2103120"/>
            <a:ext cx="2567864" cy="3566160"/>
          </a:xfrm>
          <a:prstGeom prst="roundRect">
            <a:avLst>
              <a:gd name="adj" fmla="val 4273"/>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9" name="Text 7"/>
          <p:cNvSpPr txBox="1"/>
          <p:nvPr/>
        </p:nvSpPr>
        <p:spPr>
          <a:xfrm>
            <a:off x="3665144" y="2377440"/>
            <a:ext cx="2019224" cy="914400"/>
          </a:xfrm>
          <a:prstGeom prst="rect">
            <a:avLst/>
          </a:prstGeom>
          <a:noFill/>
          <a:ln/>
        </p:spPr>
        <p:txBody>
          <a:bodyPr wrap="square" lIns="0" tIns="0" rIns="0" bIns="0" rtlCol="0" anchor="t"/>
          <a:lstStyle/>
          <a:p>
            <a:pPr indent="0" marL="0">
              <a:buNone/>
            </a:pPr>
            <a:r>
              <a:rPr lang="en-US" sz="4400" b="1" dirty="0">
                <a:solidFill>
                  <a:srgbClr val="0077B6"/>
                </a:solidFill>
                <a:latin typeface="Calibri" pitchFamily="34" charset="0"/>
                <a:ea typeface="Calibri" pitchFamily="34" charset="-122"/>
                <a:cs typeface="Calibri" pitchFamily="34" charset="-120"/>
              </a:rPr>
              <a:t>671</a:t>
            </a:r>
            <a:endParaRPr lang="en-US" sz="4400" dirty="0"/>
          </a:p>
        </p:txBody>
      </p:sp>
      <p:sp>
        <p:nvSpPr>
          <p:cNvPr id="10" name="Text 8"/>
          <p:cNvSpPr txBox="1"/>
          <p:nvPr/>
        </p:nvSpPr>
        <p:spPr>
          <a:xfrm>
            <a:off x="3665144" y="3383280"/>
            <a:ext cx="2019224" cy="1463040"/>
          </a:xfrm>
          <a:prstGeom prst="rect">
            <a:avLst/>
          </a:prstGeom>
          <a:noFill/>
          <a:ln/>
        </p:spPr>
        <p:txBody>
          <a:bodyPr wrap="square" lIns="0" tIns="0" rIns="0" bIns="0" rtlCol="0" anchor="t"/>
          <a:lstStyle/>
          <a:p>
            <a:pPr indent="0" marL="0">
              <a:lnSpc>
                <a:spcPct val="110000"/>
              </a:lnSpc>
              <a:buNone/>
            </a:pPr>
            <a:r>
              <a:rPr lang="en-US" sz="1500" dirty="0">
                <a:solidFill>
                  <a:srgbClr val="1D3557"/>
                </a:solidFill>
                <a:latin typeface="Calibri" pitchFamily="34" charset="0"/>
                <a:ea typeface="Calibri" pitchFamily="34" charset="-122"/>
                <a:cs typeface="Calibri" pitchFamily="34" charset="-120"/>
              </a:rPr>
              <a:t>grupos y gestores culturales apoyados en 2025, cada uno con su propia difusión</a:t>
            </a:r>
            <a:endParaRPr lang="en-US" sz="1500" dirty="0"/>
          </a:p>
        </p:txBody>
      </p:sp>
      <p:sp>
        <p:nvSpPr>
          <p:cNvPr id="11" name="Text 9"/>
          <p:cNvSpPr txBox="1"/>
          <p:nvPr/>
        </p:nvSpPr>
        <p:spPr>
          <a:xfrm>
            <a:off x="3665144" y="5029200"/>
            <a:ext cx="2019224" cy="457200"/>
          </a:xfrm>
          <a:prstGeom prst="rect">
            <a:avLst/>
          </a:prstGeom>
          <a:noFill/>
          <a:ln/>
        </p:spPr>
        <p:txBody>
          <a:bodyPr wrap="square" lIns="0" tIns="0" rIns="0" bIns="0" rtlCol="0" anchor="t"/>
          <a:lstStyle/>
          <a:p>
            <a:pPr indent="0" marL="0">
              <a:buNone/>
            </a:pPr>
            <a:r>
              <a:rPr lang="en-US" sz="1100" dirty="0">
                <a:solidFill>
                  <a:srgbClr val="4A5B70"/>
                </a:solidFill>
                <a:latin typeface="Calibri" pitchFamily="34" charset="0"/>
                <a:ea typeface="Calibri" pitchFamily="34" charset="-122"/>
                <a:cs typeface="Calibri" pitchFamily="34" charset="-120"/>
              </a:rPr>
              <a:t>Cartagena Cómo Vamos 2025</a:t>
            </a:r>
            <a:endParaRPr lang="en-US" sz="1100" dirty="0"/>
          </a:p>
        </p:txBody>
      </p:sp>
      <p:sp>
        <p:nvSpPr>
          <p:cNvPr id="12" name="evidencia-3"/>
          <p:cNvSpPr/>
          <p:nvPr/>
        </p:nvSpPr>
        <p:spPr>
          <a:xfrm>
            <a:off x="6233008" y="2103120"/>
            <a:ext cx="2567864" cy="3566160"/>
          </a:xfrm>
          <a:prstGeom prst="roundRect">
            <a:avLst>
              <a:gd name="adj" fmla="val 4273"/>
            </a:avLst>
          </a:prstGeom>
          <a:solidFill>
            <a:srgbClr val="1D3557"/>
          </a:solidFill>
          <a:ln w="12700">
            <a:solidFill>
              <a:srgbClr val="1D3557"/>
            </a:solidFill>
            <a:prstDash val="solid"/>
          </a:ln>
          <a:effectLst>
            <a:outerShdw sx="100000" sy="100000" kx="0" ky="0" algn="bl" rotWithShape="0" blurRad="101600" dist="25400" dir="5400000">
              <a:srgbClr val="1D3557">
                <a:alpha val="12000"/>
              </a:srgbClr>
            </a:outerShdw>
          </a:effectLst>
        </p:spPr>
      </p:sp>
      <p:sp>
        <p:nvSpPr>
          <p:cNvPr id="13" name="Text 11"/>
          <p:cNvSpPr txBox="1"/>
          <p:nvPr/>
        </p:nvSpPr>
        <p:spPr>
          <a:xfrm>
            <a:off x="6507328" y="2377440"/>
            <a:ext cx="2019224" cy="914400"/>
          </a:xfrm>
          <a:prstGeom prst="rect">
            <a:avLst/>
          </a:prstGeom>
          <a:noFill/>
          <a:ln/>
        </p:spPr>
        <p:txBody>
          <a:bodyPr wrap="square" lIns="0" tIns="0" rIns="0" bIns="0" rtlCol="0" anchor="t"/>
          <a:lstStyle/>
          <a:p>
            <a:pPr indent="0" marL="0">
              <a:buNone/>
            </a:pPr>
            <a:r>
              <a:rPr lang="en-US" sz="4400" b="1" dirty="0">
                <a:solidFill>
                  <a:srgbClr val="F77F00"/>
                </a:solidFill>
                <a:latin typeface="Calibri" pitchFamily="34" charset="0"/>
                <a:ea typeface="Calibri" pitchFamily="34" charset="-122"/>
                <a:cs typeface="Calibri" pitchFamily="34" charset="-120"/>
              </a:rPr>
              <a:t>28%</a:t>
            </a:r>
            <a:endParaRPr lang="en-US" sz="4400" dirty="0"/>
          </a:p>
        </p:txBody>
      </p:sp>
      <p:sp>
        <p:nvSpPr>
          <p:cNvPr id="14" name="Text 12"/>
          <p:cNvSpPr txBox="1"/>
          <p:nvPr/>
        </p:nvSpPr>
        <p:spPr>
          <a:xfrm>
            <a:off x="6507328" y="3383280"/>
            <a:ext cx="2019224" cy="1463040"/>
          </a:xfrm>
          <a:prstGeom prst="rect">
            <a:avLst/>
          </a:prstGeom>
          <a:noFill/>
          <a:ln/>
        </p:spPr>
        <p:txBody>
          <a:bodyPr wrap="square" lIns="0" tIns="0" rIns="0" bIns="0" rtlCol="0" anchor="t"/>
          <a:lstStyle/>
          <a:p>
            <a:pPr indent="0" marL="0">
              <a:lnSpc>
                <a:spcPct val="110000"/>
              </a:lnSpc>
              <a:buNone/>
            </a:pPr>
            <a:r>
              <a:rPr lang="en-US" sz="1500" dirty="0">
                <a:solidFill>
                  <a:srgbClr val="F8F9FA"/>
                </a:solidFill>
                <a:latin typeface="Calibri" pitchFamily="34" charset="0"/>
                <a:ea typeface="Calibri" pitchFamily="34" charset="-122"/>
                <a:cs typeface="Calibri" pitchFamily="34" charset="-120"/>
              </a:rPr>
              <a:t>de los inscritos a eventos gratuitos no llega (17% en los pagos)</a:t>
            </a:r>
            <a:endParaRPr lang="en-US" sz="1500" dirty="0"/>
          </a:p>
        </p:txBody>
      </p:sp>
      <p:sp>
        <p:nvSpPr>
          <p:cNvPr id="15" name="Text 13"/>
          <p:cNvSpPr txBox="1"/>
          <p:nvPr/>
        </p:nvSpPr>
        <p:spPr>
          <a:xfrm>
            <a:off x="6507328" y="5029200"/>
            <a:ext cx="2019224" cy="457200"/>
          </a:xfrm>
          <a:prstGeom prst="rect">
            <a:avLst/>
          </a:prstGeom>
          <a:noFill/>
          <a:ln/>
        </p:spPr>
        <p:txBody>
          <a:bodyPr wrap="square" lIns="0" tIns="0" rIns="0" bIns="0" rtlCol="0" anchor="t"/>
          <a:lstStyle/>
          <a:p>
            <a:pPr indent="0" marL="0">
              <a:buNone/>
            </a:pPr>
            <a:r>
              <a:rPr lang="en-US" sz="1100" dirty="0">
                <a:solidFill>
                  <a:srgbClr val="B8C8DA"/>
                </a:solidFill>
                <a:latin typeface="Calibri" pitchFamily="34" charset="0"/>
                <a:ea typeface="Calibri" pitchFamily="34" charset="-122"/>
                <a:cs typeface="Calibri" pitchFamily="34" charset="-120"/>
              </a:rPr>
              <a:t>PheedLoop, 389 eventos, 2026</a:t>
            </a:r>
            <a:endParaRPr lang="en-US" sz="1100" dirty="0"/>
          </a:p>
        </p:txBody>
      </p:sp>
      <p:sp>
        <p:nvSpPr>
          <p:cNvPr id="16" name="evidencia-4"/>
          <p:cNvSpPr/>
          <p:nvPr/>
        </p:nvSpPr>
        <p:spPr>
          <a:xfrm>
            <a:off x="9075191" y="2103120"/>
            <a:ext cx="2567864" cy="3566160"/>
          </a:xfrm>
          <a:prstGeom prst="roundRect">
            <a:avLst>
              <a:gd name="adj" fmla="val 4273"/>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7" name="Text 15"/>
          <p:cNvSpPr txBox="1"/>
          <p:nvPr/>
        </p:nvSpPr>
        <p:spPr>
          <a:xfrm>
            <a:off x="9349511" y="2377440"/>
            <a:ext cx="2019224" cy="914400"/>
          </a:xfrm>
          <a:prstGeom prst="rect">
            <a:avLst/>
          </a:prstGeom>
          <a:noFill/>
          <a:ln/>
        </p:spPr>
        <p:txBody>
          <a:bodyPr wrap="square" lIns="0" tIns="0" rIns="0" bIns="0" rtlCol="0" anchor="t"/>
          <a:lstStyle/>
          <a:p>
            <a:pPr indent="0" marL="0">
              <a:buNone/>
            </a:pPr>
            <a:r>
              <a:rPr lang="en-US" sz="4400" b="1" dirty="0">
                <a:solidFill>
                  <a:srgbClr val="0077B6"/>
                </a:solidFill>
                <a:latin typeface="Calibri" pitchFamily="34" charset="0"/>
                <a:ea typeface="Calibri" pitchFamily="34" charset="-122"/>
                <a:cs typeface="Calibri" pitchFamily="34" charset="-120"/>
              </a:rPr>
              <a:t>$670M</a:t>
            </a:r>
            <a:endParaRPr lang="en-US" sz="4400" dirty="0"/>
          </a:p>
        </p:txBody>
      </p:sp>
      <p:sp>
        <p:nvSpPr>
          <p:cNvPr id="18" name="Text 16"/>
          <p:cNvSpPr txBox="1"/>
          <p:nvPr/>
        </p:nvSpPr>
        <p:spPr>
          <a:xfrm>
            <a:off x="9349511" y="3383280"/>
            <a:ext cx="2019224" cy="1463040"/>
          </a:xfrm>
          <a:prstGeom prst="rect">
            <a:avLst/>
          </a:prstGeom>
          <a:noFill/>
          <a:ln/>
        </p:spPr>
        <p:txBody>
          <a:bodyPr wrap="square" lIns="0" tIns="0" rIns="0" bIns="0" rtlCol="0" anchor="t"/>
          <a:lstStyle/>
          <a:p>
            <a:pPr indent="0" marL="0">
              <a:lnSpc>
                <a:spcPct val="110000"/>
              </a:lnSpc>
              <a:buNone/>
            </a:pPr>
            <a:r>
              <a:rPr lang="en-US" sz="1500" dirty="0">
                <a:solidFill>
                  <a:srgbClr val="1D3557"/>
                </a:solidFill>
                <a:latin typeface="Calibri" pitchFamily="34" charset="0"/>
                <a:ea typeface="Calibri" pitchFamily="34" charset="-122"/>
                <a:cs typeface="Calibri" pitchFamily="34" charset="-120"/>
              </a:rPr>
              <a:t>multa de la SIC a Movistar por usar datos sin autorización previa (2025)</a:t>
            </a:r>
            <a:endParaRPr lang="en-US" sz="1500" dirty="0"/>
          </a:p>
        </p:txBody>
      </p:sp>
      <p:sp>
        <p:nvSpPr>
          <p:cNvPr id="19" name="Text 17"/>
          <p:cNvSpPr txBox="1"/>
          <p:nvPr/>
        </p:nvSpPr>
        <p:spPr>
          <a:xfrm>
            <a:off x="9349511" y="5029200"/>
            <a:ext cx="2019224" cy="457200"/>
          </a:xfrm>
          <a:prstGeom prst="rect">
            <a:avLst/>
          </a:prstGeom>
          <a:noFill/>
          <a:ln/>
        </p:spPr>
        <p:txBody>
          <a:bodyPr wrap="square" lIns="0" tIns="0" rIns="0" bIns="0" rtlCol="0" anchor="t"/>
          <a:lstStyle/>
          <a:p>
            <a:pPr indent="0" marL="0">
              <a:buNone/>
            </a:pPr>
            <a:r>
              <a:rPr lang="en-US" sz="1100" dirty="0">
                <a:solidFill>
                  <a:srgbClr val="4A5B70"/>
                </a:solidFill>
                <a:latin typeface="Calibri" pitchFamily="34" charset="0"/>
                <a:ea typeface="Calibri" pitchFamily="34" charset="-122"/>
                <a:cs typeface="Calibri" pitchFamily="34" charset="-120"/>
              </a:rPr>
              <a:t>Portafolio, oct 2025</a:t>
            </a:r>
            <a:endParaRPr lang="en-US" sz="1100" dirty="0"/>
          </a:p>
        </p:txBody>
      </p:sp>
      <p:sp>
        <p:nvSpPr>
          <p:cNvPr id="20" name="Text 18"/>
          <p:cNvSpPr txBox="1"/>
          <p:nvPr/>
        </p:nvSpPr>
        <p:spPr>
          <a:xfrm>
            <a:off x="548640" y="5989320"/>
            <a:ext cx="11094415" cy="457200"/>
          </a:xfrm>
          <a:prstGeom prst="rect">
            <a:avLst/>
          </a:prstGeom>
          <a:noFill/>
          <a:ln/>
        </p:spPr>
        <p:txBody>
          <a:bodyPr wrap="square" lIns="0" tIns="0" rIns="0" bIns="0" rtlCol="0" anchor="t"/>
          <a:lstStyle/>
          <a:p>
            <a:pPr indent="0" marL="0">
              <a:buNone/>
            </a:pPr>
            <a:r>
              <a:rPr lang="en-US" sz="1200" dirty="0">
                <a:solidFill>
                  <a:srgbClr val="4A5B70"/>
                </a:solidFill>
                <a:latin typeface="Calibri" pitchFamily="34" charset="0"/>
                <a:ea typeface="Calibri" pitchFamily="34" charset="-122"/>
                <a:cs typeface="Calibri" pitchFamily="34" charset="-120"/>
              </a:rPr>
              <a:t>Además: solo 25 accesos de internet fijo por cada 100 habitantes en Cartagena (2025), así que la app se diseña para celular. Fuentes completas en la ficha del proyecto.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AFECTADOS Y ACTORES</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Asistentes y organizadores sufren el problema; tres roles lo resuelven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3657600"/>
                <a:gridCol w="2377440"/>
                <a:gridCol w="2560320"/>
                <a:gridCol w="2496312"/>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Actor</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1D3557"/>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Tipo</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1D3557"/>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Rol en Cartaviva</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1D3557"/>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 datos privados</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1D3557"/>
                    </a:solidFill>
                  </a:tcPr>
                </a:tc>
              </a:tr>
              <a:tr h="566928">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Residentes de Cartagena</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Afectado directo</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Asistente</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Solo los suyos</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Juntas, colectivos, clubes</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Afectado directo</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Anfitrión</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r>
              <a:tr h="566928">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Administrador de la plataforma</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Actor interno</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Administrador</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Solo para moderar</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Alcaldía de Cartagena e IPCC</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Institucional</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Posible aliado</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No usa el MVP</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EEF3F8"/>
                    </a:solidFill>
                  </a:tcPr>
                </a:tc>
              </a:tr>
              <a:tr h="566928">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Superintendencia (SIC)</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Autoridad</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Marco legal</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c>
                  <a:txBody>
                    <a:bodyPr/>
                    <a:lstStyle/>
                    <a:p>
                      <a:pPr indent="0" marL="0">
                        <a:buNone/>
                      </a:pPr>
                      <a:r>
                        <a:rPr lang="en-US" sz="1500" dirty="0">
                          <a:solidFill>
                            <a:srgbClr val="1D3557"/>
                          </a:solidFill>
                          <a:latin typeface="Calibri" pitchFamily="34" charset="0"/>
                          <a:ea typeface="Calibri" pitchFamily="34" charset="-122"/>
                          <a:cs typeface="Calibri" pitchFamily="34" charset="-120"/>
                        </a:rPr>
                        <a:t>No usa la app</a:t>
                      </a:r>
                      <a:endParaRPr lang="en-US" sz="1500" dirty="0">
                        <a:latin typeface="Calibri" charset="0"/>
                        <a:ea typeface="Calibri" charset="0"/>
                        <a:cs typeface="Calibri" charset="0"/>
                      </a:endParaRPr>
                    </a:p>
                  </a:txBody>
                  <a:tcPr marL="137160" marR="137160" marT="73152" marB="73152" anchor="ctr">
                    <a:lnL w="9525" cap="flat" cmpd="sng" algn="ctr">
                      <a:solidFill>
                        <a:srgbClr val="C9D4DF"/>
                      </a:solidFill>
                      <a:prstDash val="solid"/>
                      <a:round/>
                      <a:headEnd type="none" w="med" len="med"/>
                      <a:tailEnd type="none" w="med" len="med"/>
                    </a:lnL>
                    <a:lnR w="9525" cap="flat" cmpd="sng" algn="ctr">
                      <a:solidFill>
                        <a:srgbClr val="C9D4DF"/>
                      </a:solidFill>
                      <a:prstDash val="solid"/>
                      <a:round/>
                      <a:headEnd type="none" w="med" len="med"/>
                      <a:tailEnd type="none" w="med" len="med"/>
                    </a:lnR>
                    <a:lnT w="9525" cap="flat" cmpd="sng" algn="ctr">
                      <a:solidFill>
                        <a:srgbClr val="C9D4DF"/>
                      </a:solidFill>
                      <a:prstDash val="solid"/>
                      <a:round/>
                      <a:headEnd type="none" w="med" len="med"/>
                      <a:tailEnd type="none" w="med" len="med"/>
                    </a:lnT>
                    <a:lnB w="9525" cap="flat" cmpd="sng" algn="ctr">
                      <a:solidFill>
                        <a:srgbClr val="C9D4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OBJETIVOS</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Un flujo completo, de la inscripción a la entrada</a:t>
            </a:r>
            <a:endParaRPr lang="en-US" sz="3200" dirty="0"/>
          </a:p>
        </p:txBody>
      </p:sp>
      <p:sp>
        <p:nvSpPr>
          <p:cNvPr id="4" name="objetivo-general"/>
          <p:cNvSpPr/>
          <p:nvPr/>
        </p:nvSpPr>
        <p:spPr>
          <a:xfrm>
            <a:off x="548640" y="2011680"/>
            <a:ext cx="4023360" cy="4297680"/>
          </a:xfrm>
          <a:prstGeom prst="roundRect">
            <a:avLst>
              <a:gd name="adj" fmla="val 2727"/>
            </a:avLst>
          </a:prstGeom>
          <a:solidFill>
            <a:srgbClr val="1D3557"/>
          </a:solidFill>
          <a:ln w="12700">
            <a:solidFill>
              <a:srgbClr val="1D3557"/>
            </a:solidFill>
            <a:prstDash val="solid"/>
          </a:ln>
          <a:effectLst>
            <a:outerShdw sx="100000" sy="100000" kx="0" ky="0" algn="bl" rotWithShape="0" blurRad="101600" dist="25400" dir="5400000">
              <a:srgbClr val="1D3557">
                <a:alpha val="12000"/>
              </a:srgbClr>
            </a:outerShdw>
          </a:effectLst>
        </p:spPr>
      </p:sp>
      <p:sp>
        <p:nvSpPr>
          <p:cNvPr id="5" name="Text 3"/>
          <p:cNvSpPr txBox="1"/>
          <p:nvPr/>
        </p:nvSpPr>
        <p:spPr>
          <a:xfrm>
            <a:off x="868680" y="2286000"/>
            <a:ext cx="3383280" cy="320040"/>
          </a:xfrm>
          <a:prstGeom prst="rect">
            <a:avLst/>
          </a:prstGeom>
          <a:noFill/>
          <a:ln/>
        </p:spPr>
        <p:txBody>
          <a:bodyPr wrap="square" lIns="0" tIns="0" rIns="0" bIns="0" rtlCol="0" anchor="t"/>
          <a:lstStyle/>
          <a:p>
            <a:pPr indent="0" marL="0">
              <a:buNone/>
            </a:pPr>
            <a:r>
              <a:rPr lang="en-US" sz="1200" b="1" spc="200" kern="0" dirty="0">
                <a:solidFill>
                  <a:srgbClr val="F77F00"/>
                </a:solidFill>
                <a:latin typeface="Calibri" pitchFamily="34" charset="0"/>
                <a:ea typeface="Calibri" pitchFamily="34" charset="-122"/>
                <a:cs typeface="Calibri" pitchFamily="34" charset="-120"/>
              </a:rPr>
              <a:t>OBJETIVO GENERAL</a:t>
            </a:r>
            <a:endParaRPr lang="en-US" sz="1200" dirty="0"/>
          </a:p>
        </p:txBody>
      </p:sp>
      <p:sp>
        <p:nvSpPr>
          <p:cNvPr id="6" name="Text 4"/>
          <p:cNvSpPr txBox="1"/>
          <p:nvPr/>
        </p:nvSpPr>
        <p:spPr>
          <a:xfrm>
            <a:off x="868680" y="2743200"/>
            <a:ext cx="3383280" cy="3291840"/>
          </a:xfrm>
          <a:prstGeom prst="rect">
            <a:avLst/>
          </a:prstGeom>
          <a:noFill/>
          <a:ln/>
        </p:spPr>
        <p:txBody>
          <a:bodyPr wrap="square" lIns="0" tIns="0" rIns="0" bIns="0" rtlCol="0" anchor="t"/>
          <a:lstStyle/>
          <a:p>
            <a:pPr indent="0" marL="0">
              <a:lnSpc>
                <a:spcPct val="120000"/>
              </a:lnSpc>
              <a:buNone/>
            </a:pPr>
            <a:r>
              <a:rPr lang="en-US" sz="1700" dirty="0">
                <a:solidFill>
                  <a:srgbClr val="F8F9FA"/>
                </a:solidFill>
                <a:latin typeface="Calibri" pitchFamily="34" charset="0"/>
                <a:ea typeface="Calibri" pitchFamily="34" charset="-122"/>
                <a:cs typeface="Calibri" pitchFamily="34" charset="-120"/>
              </a:rPr>
              <a:t>Desarrollar y desplegar una app web en Django y MySQL para descubrir eventos de Cartagena en un mapa, inscribirse con un pase QR y validar la entrada sin exponer datos personales.</a:t>
            </a:r>
            <a:endParaRPr lang="en-US" sz="1700" dirty="0"/>
          </a:p>
        </p:txBody>
      </p:sp>
      <p:sp>
        <p:nvSpPr>
          <p:cNvPr id="7" name="Text 5"/>
          <p:cNvSpPr txBox="1"/>
          <p:nvPr/>
        </p:nvSpPr>
        <p:spPr>
          <a:xfrm>
            <a:off x="4937760" y="2057400"/>
            <a:ext cx="6675120" cy="32004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OBJETIVOS ESPECÍFICOS</a:t>
            </a:r>
            <a:endParaRPr lang="en-US" sz="1200" dirty="0"/>
          </a:p>
        </p:txBody>
      </p:sp>
      <p:sp>
        <p:nvSpPr>
          <p:cNvPr id="8" name="Text 6"/>
          <p:cNvSpPr txBox="1"/>
          <p:nvPr/>
        </p:nvSpPr>
        <p:spPr>
          <a:xfrm>
            <a:off x="4937760" y="2468880"/>
            <a:ext cx="6675120" cy="38404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rgbClr val="1D3557"/>
                </a:solidFill>
                <a:latin typeface="Calibri" pitchFamily="34" charset="0"/>
                <a:ea typeface="Calibri" pitchFamily="34" charset="-122"/>
                <a:cs typeface="Calibri" pitchFamily="34" charset="-120"/>
              </a:rPr>
              <a:t>CRUD de eventos y planes relámpago (1 a 6 horas) guardados en MySQL.</a:t>
            </a:r>
            <a:endParaRPr lang="en-US" sz="1600" dirty="0"/>
          </a:p>
          <a:p>
            <a:pPr marL="342900" indent="-342900">
              <a:spcAft>
                <a:spcPts val="800"/>
              </a:spcAft>
              <a:buSzPct val="100000"/>
              <a:buFont typeface="+mj-lt"/>
              <a:buAutoNum type="arabicPeriod" startAt="1"/>
            </a:pPr>
            <a:r>
              <a:rPr lang="en-US" sz="1600" dirty="0">
                <a:solidFill>
                  <a:srgbClr val="1D3557"/>
                </a:solidFill>
                <a:latin typeface="Calibri" pitchFamily="34" charset="0"/>
                <a:ea typeface="Calibri" pitchFamily="34" charset="-122"/>
                <a:cs typeface="Calibri" pitchFamily="34" charset="-120"/>
              </a:rPr>
              <a:t>Mapa de Cartagena con filtros de fecha, categoría y distancia, y el estado de cada evento.</a:t>
            </a:r>
            <a:endParaRPr lang="en-US" sz="1600" dirty="0"/>
          </a:p>
          <a:p>
            <a:pPr marL="342900" indent="-342900">
              <a:spcAft>
                <a:spcPts val="800"/>
              </a:spcAft>
              <a:buSzPct val="100000"/>
              <a:buFont typeface="+mj-lt"/>
              <a:buAutoNum type="arabicPeriod" startAt="1"/>
            </a:pPr>
            <a:r>
              <a:rPr lang="en-US" sz="1600" dirty="0">
                <a:solidFill>
                  <a:srgbClr val="1D3557"/>
                </a:solidFill>
                <a:latin typeface="Calibri" pitchFamily="34" charset="0"/>
                <a:ea typeface="Calibri" pitchFamily="34" charset="-122"/>
                <a:cs typeface="Calibri" pitchFamily="34" charset="-120"/>
              </a:rPr>
              <a:t>Tres roles con permisos distintos: Administrador, Anfitrión y Asistente.</a:t>
            </a:r>
            <a:endParaRPr lang="en-US" sz="1600" dirty="0"/>
          </a:p>
          <a:p>
            <a:pPr marL="342900" indent="-342900">
              <a:spcAft>
                <a:spcPts val="800"/>
              </a:spcAft>
              <a:buSzPct val="100000"/>
              <a:buFont typeface="+mj-lt"/>
              <a:buAutoNum type="arabicPeriod" startAt="1"/>
            </a:pPr>
            <a:r>
              <a:rPr lang="en-US" sz="1600" dirty="0">
                <a:solidFill>
                  <a:srgbClr val="1D3557"/>
                </a:solidFill>
                <a:latin typeface="Calibri" pitchFamily="34" charset="0"/>
                <a:ea typeface="Calibri" pitchFamily="34" charset="-122"/>
                <a:cs typeface="Calibri" pitchFamily="34" charset="-120"/>
              </a:rPr>
              <a:t>Pase QR único y escáner web que muestra solo foto, alias y +18.</a:t>
            </a:r>
            <a:endParaRPr lang="en-US" sz="1600" dirty="0"/>
          </a:p>
          <a:p>
            <a:pPr marL="342900" indent="-342900">
              <a:spcAft>
                <a:spcPts val="800"/>
              </a:spcAft>
              <a:buSzPct val="100000"/>
              <a:buFont typeface="+mj-lt"/>
              <a:buAutoNum type="arabicPeriod" startAt="1"/>
            </a:pPr>
            <a:r>
              <a:rPr lang="en-US" sz="1600" dirty="0">
                <a:solidFill>
                  <a:srgbClr val="1D3557"/>
                </a:solidFill>
                <a:latin typeface="Calibri" pitchFamily="34" charset="0"/>
                <a:ea typeface="Calibri" pitchFamily="34" charset="-122"/>
                <a:cs typeface="Calibri" pitchFamily="34" charset="-120"/>
              </a:rPr>
              <a:t>Tasa de asistencia efectiva por evento y reputación del asistente.</a:t>
            </a:r>
            <a:endParaRPr lang="en-US" sz="1600" dirty="0"/>
          </a:p>
          <a:p>
            <a:pPr marL="342900" indent="-342900">
              <a:spcAft>
                <a:spcPts val="800"/>
              </a:spcAft>
              <a:buSzPct val="100000"/>
              <a:buFont typeface="+mj-lt"/>
              <a:buAutoNum type="arabicPeriod" startAt="1"/>
            </a:pPr>
            <a:r>
              <a:rPr lang="en-US" sz="1600" dirty="0">
                <a:solidFill>
                  <a:srgbClr val="1D3557"/>
                </a:solidFill>
                <a:latin typeface="Calibri" pitchFamily="34" charset="0"/>
                <a:ea typeface="Calibri" pitchFamily="34" charset="-122"/>
                <a:cs typeface="Calibri" pitchFamily="34" charset="-120"/>
              </a:rPr>
              <a:t>Mínimo 6 pruebas con pytest-django y publicación en una URL pública.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ALCANCE Y LÍMITES</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El MVP hace pocas cosas, y las hace completas</a:t>
            </a:r>
            <a:endParaRPr lang="en-US" sz="3200" dirty="0"/>
          </a:p>
        </p:txBody>
      </p:sp>
      <p:sp>
        <p:nvSpPr>
          <p:cNvPr id="4" name="incluye"/>
          <p:cNvSpPr/>
          <p:nvPr/>
        </p:nvSpPr>
        <p:spPr>
          <a:xfrm>
            <a:off x="548640" y="2011680"/>
            <a:ext cx="5394960" cy="3657600"/>
          </a:xfrm>
          <a:prstGeom prst="roundRect">
            <a:avLst>
              <a:gd name="adj" fmla="val 3000"/>
            </a:avLst>
          </a:prstGeom>
          <a:solidFill>
            <a:srgbClr val="E3F1F9"/>
          </a:solidFill>
          <a:ln w="12700">
            <a:solidFill>
              <a:srgbClr val="E3F1F9"/>
            </a:solidFill>
            <a:prstDash val="solid"/>
          </a:ln>
          <a:effectLst>
            <a:outerShdw sx="100000" sy="100000" kx="0" ky="0" algn="bl" rotWithShape="0" blurRad="101600" dist="25400" dir="5400000">
              <a:srgbClr val="1D3557">
                <a:alpha val="12000"/>
              </a:srgbClr>
            </a:outerShdw>
          </a:effectLst>
        </p:spPr>
      </p:sp>
      <p:sp>
        <p:nvSpPr>
          <p:cNvPr id="5" name="Text 3"/>
          <p:cNvSpPr txBox="1"/>
          <p:nvPr/>
        </p:nvSpPr>
        <p:spPr>
          <a:xfrm>
            <a:off x="914400" y="2240280"/>
            <a:ext cx="4663440" cy="457200"/>
          </a:xfrm>
          <a:prstGeom prst="rect">
            <a:avLst/>
          </a:prstGeom>
          <a:noFill/>
          <a:ln/>
        </p:spPr>
        <p:txBody>
          <a:bodyPr wrap="square" lIns="0" tIns="0" rIns="0" bIns="0" rtlCol="0" anchor="t"/>
          <a:lstStyle/>
          <a:p>
            <a:pPr indent="0" marL="0">
              <a:buNone/>
            </a:pPr>
            <a:r>
              <a:rPr lang="en-US" sz="2200" b="1" dirty="0">
                <a:solidFill>
                  <a:srgbClr val="005A8C"/>
                </a:solidFill>
                <a:latin typeface="Calibri" pitchFamily="34" charset="0"/>
                <a:ea typeface="Calibri" pitchFamily="34" charset="-122"/>
                <a:cs typeface="Calibri" pitchFamily="34" charset="-120"/>
              </a:rPr>
              <a:t>Incluye</a:t>
            </a:r>
            <a:endParaRPr lang="en-US" sz="2200" dirty="0"/>
          </a:p>
        </p:txBody>
      </p:sp>
      <p:sp>
        <p:nvSpPr>
          <p:cNvPr id="6" name="Text 4"/>
          <p:cNvSpPr txBox="1"/>
          <p:nvPr/>
        </p:nvSpPr>
        <p:spPr>
          <a:xfrm>
            <a:off x="914400" y="2788920"/>
            <a:ext cx="4663440" cy="2743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CRUD de eventos y planes relámpago</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Mapa con filtros y estado de cada evento</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Registro, login y 3 roles</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Inscripción con validación de cupo y +18</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Pase QR y escáner con validación ciega</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Tasa de asistencia y Pasaporte Cartagenero</a:t>
            </a:r>
            <a:endParaRPr lang="en-US" sz="1600" dirty="0"/>
          </a:p>
        </p:txBody>
      </p:sp>
      <p:sp>
        <p:nvSpPr>
          <p:cNvPr id="7" name="fuera"/>
          <p:cNvSpPr/>
          <p:nvPr/>
        </p:nvSpPr>
        <p:spPr>
          <a:xfrm>
            <a:off x="6245352" y="2011680"/>
            <a:ext cx="5394960" cy="3657600"/>
          </a:xfrm>
          <a:prstGeom prst="roundRect">
            <a:avLst>
              <a:gd name="adj" fmla="val 3000"/>
            </a:avLst>
          </a:prstGeom>
          <a:solidFill>
            <a:srgbClr val="FFF1E0"/>
          </a:solidFill>
          <a:ln w="12700">
            <a:solidFill>
              <a:srgbClr val="FFF1E0"/>
            </a:solidFill>
            <a:prstDash val="solid"/>
          </a:ln>
          <a:effectLst>
            <a:outerShdw sx="100000" sy="100000" kx="0" ky="0" algn="bl" rotWithShape="0" blurRad="101600" dist="25400" dir="5400000">
              <a:srgbClr val="1D3557">
                <a:alpha val="12000"/>
              </a:srgbClr>
            </a:outerShdw>
          </a:effectLst>
        </p:spPr>
      </p:sp>
      <p:sp>
        <p:nvSpPr>
          <p:cNvPr id="8" name="Text 6"/>
          <p:cNvSpPr txBox="1"/>
          <p:nvPr/>
        </p:nvSpPr>
        <p:spPr>
          <a:xfrm>
            <a:off x="6611112" y="2240280"/>
            <a:ext cx="4663440" cy="457200"/>
          </a:xfrm>
          <a:prstGeom prst="rect">
            <a:avLst/>
          </a:prstGeom>
          <a:noFill/>
          <a:ln/>
        </p:spPr>
        <p:txBody>
          <a:bodyPr wrap="square" lIns="0" tIns="0" rIns="0" bIns="0" rtlCol="0" anchor="t"/>
          <a:lstStyle/>
          <a:p>
            <a:pPr indent="0" marL="0">
              <a:buNone/>
            </a:pPr>
            <a:r>
              <a:rPr lang="en-US" sz="2200" b="1" dirty="0">
                <a:solidFill>
                  <a:srgbClr val="7A3E00"/>
                </a:solidFill>
                <a:latin typeface="Calibri" pitchFamily="34" charset="0"/>
                <a:ea typeface="Calibri" pitchFamily="34" charset="-122"/>
                <a:cs typeface="Calibri" pitchFamily="34" charset="-120"/>
              </a:rPr>
              <a:t>Queda por fuera</a:t>
            </a:r>
            <a:endParaRPr lang="en-US" sz="2200" dirty="0"/>
          </a:p>
        </p:txBody>
      </p:sp>
      <p:sp>
        <p:nvSpPr>
          <p:cNvPr id="9" name="Text 7"/>
          <p:cNvSpPr txBox="1"/>
          <p:nvPr/>
        </p:nvSpPr>
        <p:spPr>
          <a:xfrm>
            <a:off x="6611112" y="2788920"/>
            <a:ext cx="4663440" cy="2743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Cápsula del Tiempo (álbum de fotos)</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Vibe Check, "Me gusta" y reclamos</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Venta de boletas o pagos en línea</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App nativa Android o iOS</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Notificaciones push, SMS o correo</a:t>
            </a:r>
            <a:endParaRPr lang="en-US" sz="1600" dirty="0"/>
          </a:p>
          <a:p>
            <a:pPr marL="342900" indent="-342900">
              <a:spcAft>
                <a:spcPts val="600"/>
              </a:spcAft>
              <a:buSzPct val="100000"/>
              <a:buChar char="•"/>
            </a:pPr>
            <a:r>
              <a:rPr lang="en-US" sz="1600" dirty="0">
                <a:solidFill>
                  <a:srgbClr val="1D3557"/>
                </a:solidFill>
                <a:latin typeface="Calibri" pitchFamily="34" charset="0"/>
                <a:ea typeface="Calibri" pitchFamily="34" charset="-122"/>
                <a:cs typeface="Calibri" pitchFamily="34" charset="-120"/>
              </a:rPr>
              <a:t>Eventos fuera de Cartagena</a:t>
            </a:r>
            <a:endParaRPr lang="en-US" sz="1600" dirty="0"/>
          </a:p>
        </p:txBody>
      </p:sp>
      <p:sp>
        <p:nvSpPr>
          <p:cNvPr id="10" name="Text 8"/>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200" dirty="0">
                <a:solidFill>
                  <a:srgbClr val="4A5B70"/>
                </a:solidFill>
                <a:latin typeface="Calibri" pitchFamily="34" charset="0"/>
                <a:ea typeface="Calibri" pitchFamily="34" charset="-122"/>
                <a:cs typeface="Calibri" pitchFamily="34" charset="-120"/>
              </a:rPr>
              <a:t>Límites: solo el Distrito de Cartagena · 5 fases del curso · Django + MySQL · la edad se declara, no se verifica con documento · no se pide cédula.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ESQUELETO DE LA PÁGINA · EL FLUJO</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Seis pantallas, de punta a punta</a:t>
            </a:r>
            <a:endParaRPr lang="en-US" sz="3200" dirty="0"/>
          </a:p>
        </p:txBody>
      </p:sp>
      <p:sp>
        <p:nvSpPr>
          <p:cNvPr id="4" name="paso-1"/>
          <p:cNvSpPr/>
          <p:nvPr/>
        </p:nvSpPr>
        <p:spPr>
          <a:xfrm>
            <a:off x="548640" y="1828800"/>
            <a:ext cx="351525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5" name="Text 3"/>
          <p:cNvSpPr txBox="1"/>
          <p:nvPr/>
        </p:nvSpPr>
        <p:spPr>
          <a:xfrm>
            <a:off x="868680" y="2057400"/>
            <a:ext cx="2875178" cy="274320"/>
          </a:xfrm>
          <a:prstGeom prst="rect">
            <a:avLst/>
          </a:prstGeom>
          <a:noFill/>
          <a:ln/>
        </p:spPr>
        <p:txBody>
          <a:bodyPr wrap="square" lIns="0" tIns="0" rIns="0" bIns="0" rtlCol="0" anchor="t"/>
          <a:lstStyle/>
          <a:p>
            <a:pPr indent="0" marL="0">
              <a:buNone/>
            </a:pPr>
            <a:r>
              <a:rPr lang="en-US" sz="1200" b="1" dirty="0">
                <a:solidFill>
                  <a:srgbClr val="0077B6"/>
                </a:solidFill>
                <a:latin typeface="Calibri" pitchFamily="34" charset="0"/>
                <a:ea typeface="Calibri" pitchFamily="34" charset="-122"/>
                <a:cs typeface="Calibri" pitchFamily="34" charset="-120"/>
              </a:rPr>
              <a:t>01 · Asistente</a:t>
            </a:r>
            <a:endParaRPr lang="en-US" sz="1200" dirty="0"/>
          </a:p>
        </p:txBody>
      </p:sp>
      <p:sp>
        <p:nvSpPr>
          <p:cNvPr id="6" name="Text 4"/>
          <p:cNvSpPr txBox="1"/>
          <p:nvPr/>
        </p:nvSpPr>
        <p:spPr>
          <a:xfrm>
            <a:off x="868680" y="2377440"/>
            <a:ext cx="2875178" cy="502920"/>
          </a:xfrm>
          <a:prstGeom prst="rect">
            <a:avLst/>
          </a:prstGeom>
          <a:noFill/>
          <a:ln/>
        </p:spPr>
        <p:txBody>
          <a:bodyPr wrap="square" lIns="0" tIns="0" rIns="0" bIns="0" rtlCol="0" anchor="t"/>
          <a:lstStyle/>
          <a:p>
            <a:pPr indent="0" marL="0">
              <a:buNone/>
            </a:pPr>
            <a:r>
              <a:rPr lang="en-US" sz="2200" b="1" dirty="0">
                <a:solidFill>
                  <a:srgbClr val="1D3557"/>
                </a:solidFill>
                <a:latin typeface="Calibri" pitchFamily="34" charset="0"/>
                <a:ea typeface="Calibri" pitchFamily="34" charset="-122"/>
                <a:cs typeface="Calibri" pitchFamily="34" charset="-120"/>
              </a:rPr>
              <a:t>Registro</a:t>
            </a:r>
            <a:endParaRPr lang="en-US" sz="2200" dirty="0"/>
          </a:p>
        </p:txBody>
      </p:sp>
      <p:sp>
        <p:nvSpPr>
          <p:cNvPr id="7" name="Text 5"/>
          <p:cNvSpPr txBox="1"/>
          <p:nvPr/>
        </p:nvSpPr>
        <p:spPr>
          <a:xfrm>
            <a:off x="868680" y="2926080"/>
            <a:ext cx="2875178" cy="82296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Alias, foto, fecha de nacimiento, rol y autorización de datos.</a:t>
            </a:r>
            <a:endParaRPr lang="en-US" sz="1400" dirty="0"/>
          </a:p>
        </p:txBody>
      </p:sp>
      <p:sp>
        <p:nvSpPr>
          <p:cNvPr id="8" name="paso-2"/>
          <p:cNvSpPr/>
          <p:nvPr/>
        </p:nvSpPr>
        <p:spPr>
          <a:xfrm>
            <a:off x="4338218" y="1828800"/>
            <a:ext cx="351525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9" name="Text 7"/>
          <p:cNvSpPr txBox="1"/>
          <p:nvPr/>
        </p:nvSpPr>
        <p:spPr>
          <a:xfrm>
            <a:off x="4658258" y="2057400"/>
            <a:ext cx="2875178" cy="274320"/>
          </a:xfrm>
          <a:prstGeom prst="rect">
            <a:avLst/>
          </a:prstGeom>
          <a:noFill/>
          <a:ln/>
        </p:spPr>
        <p:txBody>
          <a:bodyPr wrap="square" lIns="0" tIns="0" rIns="0" bIns="0" rtlCol="0" anchor="t"/>
          <a:lstStyle/>
          <a:p>
            <a:pPr indent="0" marL="0">
              <a:buNone/>
            </a:pPr>
            <a:r>
              <a:rPr lang="en-US" sz="1200" b="1" dirty="0">
                <a:solidFill>
                  <a:srgbClr val="0077B6"/>
                </a:solidFill>
                <a:latin typeface="Calibri" pitchFamily="34" charset="0"/>
                <a:ea typeface="Calibri" pitchFamily="34" charset="-122"/>
                <a:cs typeface="Calibri" pitchFamily="34" charset="-120"/>
              </a:rPr>
              <a:t>02 · Asistente</a:t>
            </a:r>
            <a:endParaRPr lang="en-US" sz="1200" dirty="0"/>
          </a:p>
        </p:txBody>
      </p:sp>
      <p:sp>
        <p:nvSpPr>
          <p:cNvPr id="10" name="Text 8"/>
          <p:cNvSpPr txBox="1"/>
          <p:nvPr/>
        </p:nvSpPr>
        <p:spPr>
          <a:xfrm>
            <a:off x="4658258" y="2377440"/>
            <a:ext cx="2875178" cy="502920"/>
          </a:xfrm>
          <a:prstGeom prst="rect">
            <a:avLst/>
          </a:prstGeom>
          <a:noFill/>
          <a:ln/>
        </p:spPr>
        <p:txBody>
          <a:bodyPr wrap="square" lIns="0" tIns="0" rIns="0" bIns="0" rtlCol="0" anchor="t"/>
          <a:lstStyle/>
          <a:p>
            <a:pPr indent="0" marL="0">
              <a:buNone/>
            </a:pPr>
            <a:r>
              <a:rPr lang="en-US" sz="2200" b="1" dirty="0">
                <a:solidFill>
                  <a:srgbClr val="1D3557"/>
                </a:solidFill>
                <a:latin typeface="Calibri" pitchFamily="34" charset="0"/>
                <a:ea typeface="Calibri" pitchFamily="34" charset="-122"/>
                <a:cs typeface="Calibri" pitchFamily="34" charset="-120"/>
              </a:rPr>
              <a:t>Explorar</a:t>
            </a:r>
            <a:endParaRPr lang="en-US" sz="2200" dirty="0"/>
          </a:p>
        </p:txBody>
      </p:sp>
      <p:sp>
        <p:nvSpPr>
          <p:cNvPr id="11" name="Text 9"/>
          <p:cNvSpPr txBox="1"/>
          <p:nvPr/>
        </p:nvSpPr>
        <p:spPr>
          <a:xfrm>
            <a:off x="4658258" y="2926080"/>
            <a:ext cx="2875178" cy="82296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Mapa de Cartagena, filtros y marcadores por estado.</a:t>
            </a:r>
            <a:endParaRPr lang="en-US" sz="1400" dirty="0"/>
          </a:p>
        </p:txBody>
      </p:sp>
      <p:sp>
        <p:nvSpPr>
          <p:cNvPr id="12" name="paso-3"/>
          <p:cNvSpPr/>
          <p:nvPr/>
        </p:nvSpPr>
        <p:spPr>
          <a:xfrm>
            <a:off x="8127797" y="1828800"/>
            <a:ext cx="351525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3" name="Text 11"/>
          <p:cNvSpPr txBox="1"/>
          <p:nvPr/>
        </p:nvSpPr>
        <p:spPr>
          <a:xfrm>
            <a:off x="8447837" y="2057400"/>
            <a:ext cx="2875178" cy="274320"/>
          </a:xfrm>
          <a:prstGeom prst="rect">
            <a:avLst/>
          </a:prstGeom>
          <a:noFill/>
          <a:ln/>
        </p:spPr>
        <p:txBody>
          <a:bodyPr wrap="square" lIns="0" tIns="0" rIns="0" bIns="0" rtlCol="0" anchor="t"/>
          <a:lstStyle/>
          <a:p>
            <a:pPr indent="0" marL="0">
              <a:buNone/>
            </a:pPr>
            <a:r>
              <a:rPr lang="en-US" sz="1200" b="1" dirty="0">
                <a:solidFill>
                  <a:srgbClr val="0077B6"/>
                </a:solidFill>
                <a:latin typeface="Calibri" pitchFamily="34" charset="0"/>
                <a:ea typeface="Calibri" pitchFamily="34" charset="-122"/>
                <a:cs typeface="Calibri" pitchFamily="34" charset="-120"/>
              </a:rPr>
              <a:t>03 · Asistente</a:t>
            </a:r>
            <a:endParaRPr lang="en-US" sz="1200" dirty="0"/>
          </a:p>
        </p:txBody>
      </p:sp>
      <p:sp>
        <p:nvSpPr>
          <p:cNvPr id="14" name="Text 12"/>
          <p:cNvSpPr txBox="1"/>
          <p:nvPr/>
        </p:nvSpPr>
        <p:spPr>
          <a:xfrm>
            <a:off x="8447837" y="2377440"/>
            <a:ext cx="2875178" cy="502920"/>
          </a:xfrm>
          <a:prstGeom prst="rect">
            <a:avLst/>
          </a:prstGeom>
          <a:noFill/>
          <a:ln/>
        </p:spPr>
        <p:txBody>
          <a:bodyPr wrap="square" lIns="0" tIns="0" rIns="0" bIns="0" rtlCol="0" anchor="t"/>
          <a:lstStyle/>
          <a:p>
            <a:pPr indent="0" marL="0">
              <a:buNone/>
            </a:pPr>
            <a:r>
              <a:rPr lang="en-US" sz="2200" b="1" dirty="0">
                <a:solidFill>
                  <a:srgbClr val="1D3557"/>
                </a:solidFill>
                <a:latin typeface="Calibri" pitchFamily="34" charset="0"/>
                <a:ea typeface="Calibri" pitchFamily="34" charset="-122"/>
                <a:cs typeface="Calibri" pitchFamily="34" charset="-120"/>
              </a:rPr>
              <a:t>Detalle</a:t>
            </a:r>
            <a:endParaRPr lang="en-US" sz="2200" dirty="0"/>
          </a:p>
        </p:txBody>
      </p:sp>
      <p:sp>
        <p:nvSpPr>
          <p:cNvPr id="15" name="Text 13"/>
          <p:cNvSpPr txBox="1"/>
          <p:nvPr/>
        </p:nvSpPr>
        <p:spPr>
          <a:xfrm>
            <a:off x="8447837" y="2926080"/>
            <a:ext cx="2875178" cy="82296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Fecha, lugar, cupos, anfitrión y botón Inscribirme.</a:t>
            </a:r>
            <a:endParaRPr lang="en-US" sz="1400" dirty="0"/>
          </a:p>
        </p:txBody>
      </p:sp>
      <p:sp>
        <p:nvSpPr>
          <p:cNvPr id="16" name="paso-4"/>
          <p:cNvSpPr/>
          <p:nvPr/>
        </p:nvSpPr>
        <p:spPr>
          <a:xfrm>
            <a:off x="548640" y="4160520"/>
            <a:ext cx="351525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7" name="Text 15"/>
          <p:cNvSpPr txBox="1"/>
          <p:nvPr/>
        </p:nvSpPr>
        <p:spPr>
          <a:xfrm>
            <a:off x="868680" y="4389120"/>
            <a:ext cx="2875178" cy="274320"/>
          </a:xfrm>
          <a:prstGeom prst="rect">
            <a:avLst/>
          </a:prstGeom>
          <a:noFill/>
          <a:ln/>
        </p:spPr>
        <p:txBody>
          <a:bodyPr wrap="square" lIns="0" tIns="0" rIns="0" bIns="0" rtlCol="0" anchor="t"/>
          <a:lstStyle/>
          <a:p>
            <a:pPr indent="0" marL="0">
              <a:buNone/>
            </a:pPr>
            <a:r>
              <a:rPr lang="en-US" sz="1200" b="1" dirty="0">
                <a:solidFill>
                  <a:srgbClr val="0077B6"/>
                </a:solidFill>
                <a:latin typeface="Calibri" pitchFamily="34" charset="0"/>
                <a:ea typeface="Calibri" pitchFamily="34" charset="-122"/>
                <a:cs typeface="Calibri" pitchFamily="34" charset="-120"/>
              </a:rPr>
              <a:t>04 · Asistente</a:t>
            </a:r>
            <a:endParaRPr lang="en-US" sz="1200" dirty="0"/>
          </a:p>
        </p:txBody>
      </p:sp>
      <p:sp>
        <p:nvSpPr>
          <p:cNvPr id="18" name="Text 16"/>
          <p:cNvSpPr txBox="1"/>
          <p:nvPr/>
        </p:nvSpPr>
        <p:spPr>
          <a:xfrm>
            <a:off x="868680" y="4709160"/>
            <a:ext cx="2875178" cy="502920"/>
          </a:xfrm>
          <a:prstGeom prst="rect">
            <a:avLst/>
          </a:prstGeom>
          <a:noFill/>
          <a:ln/>
        </p:spPr>
        <p:txBody>
          <a:bodyPr wrap="square" lIns="0" tIns="0" rIns="0" bIns="0" rtlCol="0" anchor="t"/>
          <a:lstStyle/>
          <a:p>
            <a:pPr indent="0" marL="0">
              <a:buNone/>
            </a:pPr>
            <a:r>
              <a:rPr lang="en-US" sz="2200" b="1" dirty="0">
                <a:solidFill>
                  <a:srgbClr val="1D3557"/>
                </a:solidFill>
                <a:latin typeface="Calibri" pitchFamily="34" charset="0"/>
                <a:ea typeface="Calibri" pitchFamily="34" charset="-122"/>
                <a:cs typeface="Calibri" pitchFamily="34" charset="-120"/>
              </a:rPr>
              <a:t>Mi pase QR</a:t>
            </a:r>
            <a:endParaRPr lang="en-US" sz="2200" dirty="0"/>
          </a:p>
        </p:txBody>
      </p:sp>
      <p:sp>
        <p:nvSpPr>
          <p:cNvPr id="19" name="Text 17"/>
          <p:cNvSpPr txBox="1"/>
          <p:nvPr/>
        </p:nvSpPr>
        <p:spPr>
          <a:xfrm>
            <a:off x="868680" y="5257800"/>
            <a:ext cx="2875178" cy="82296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Código firmado sin datos personales, listo para la puerta.</a:t>
            </a:r>
            <a:endParaRPr lang="en-US" sz="1400" dirty="0"/>
          </a:p>
        </p:txBody>
      </p:sp>
      <p:sp>
        <p:nvSpPr>
          <p:cNvPr id="20" name="paso-5"/>
          <p:cNvSpPr/>
          <p:nvPr/>
        </p:nvSpPr>
        <p:spPr>
          <a:xfrm>
            <a:off x="4338218" y="4160520"/>
            <a:ext cx="3515258" cy="2057400"/>
          </a:xfrm>
          <a:prstGeom prst="roundRect">
            <a:avLst>
              <a:gd name="adj" fmla="val 5333"/>
            </a:avLst>
          </a:prstGeom>
          <a:solidFill>
            <a:srgbClr val="1D3557"/>
          </a:solidFill>
          <a:ln w="12700">
            <a:solidFill>
              <a:srgbClr val="1D3557"/>
            </a:solidFill>
            <a:prstDash val="solid"/>
          </a:ln>
          <a:effectLst>
            <a:outerShdw sx="100000" sy="100000" kx="0" ky="0" algn="bl" rotWithShape="0" blurRad="101600" dist="25400" dir="5400000">
              <a:srgbClr val="1D3557">
                <a:alpha val="12000"/>
              </a:srgbClr>
            </a:outerShdw>
          </a:effectLst>
        </p:spPr>
      </p:sp>
      <p:sp>
        <p:nvSpPr>
          <p:cNvPr id="21" name="Text 19"/>
          <p:cNvSpPr txBox="1"/>
          <p:nvPr/>
        </p:nvSpPr>
        <p:spPr>
          <a:xfrm>
            <a:off x="4658258" y="4389120"/>
            <a:ext cx="2875178" cy="274320"/>
          </a:xfrm>
          <a:prstGeom prst="rect">
            <a:avLst/>
          </a:prstGeom>
          <a:noFill/>
          <a:ln/>
        </p:spPr>
        <p:txBody>
          <a:bodyPr wrap="square" lIns="0" tIns="0" rIns="0" bIns="0" rtlCol="0" anchor="t"/>
          <a:lstStyle/>
          <a:p>
            <a:pPr indent="0" marL="0">
              <a:buNone/>
            </a:pPr>
            <a:r>
              <a:rPr lang="en-US" sz="1200" b="1" dirty="0">
                <a:solidFill>
                  <a:srgbClr val="F77F00"/>
                </a:solidFill>
                <a:latin typeface="Calibri" pitchFamily="34" charset="0"/>
                <a:ea typeface="Calibri" pitchFamily="34" charset="-122"/>
                <a:cs typeface="Calibri" pitchFamily="34" charset="-120"/>
              </a:rPr>
              <a:t>05 · Anfitrión</a:t>
            </a:r>
            <a:endParaRPr lang="en-US" sz="1200" dirty="0"/>
          </a:p>
        </p:txBody>
      </p:sp>
      <p:sp>
        <p:nvSpPr>
          <p:cNvPr id="22" name="Text 20"/>
          <p:cNvSpPr txBox="1"/>
          <p:nvPr/>
        </p:nvSpPr>
        <p:spPr>
          <a:xfrm>
            <a:off x="4658258" y="4709160"/>
            <a:ext cx="2875178" cy="502920"/>
          </a:xfrm>
          <a:prstGeom prst="rect">
            <a:avLst/>
          </a:prstGeom>
          <a:noFill/>
          <a:ln/>
        </p:spPr>
        <p:txBody>
          <a:bodyPr wrap="square" lIns="0" tIns="0" rIns="0" bIns="0" rtlCol="0" anchor="t"/>
          <a:lstStyle/>
          <a:p>
            <a:pPr indent="0" marL="0">
              <a:buNone/>
            </a:pPr>
            <a:r>
              <a:rPr lang="en-US" sz="2200" b="1" dirty="0">
                <a:solidFill>
                  <a:srgbClr val="F8F9FA"/>
                </a:solidFill>
                <a:latin typeface="Calibri" pitchFamily="34" charset="0"/>
                <a:ea typeface="Calibri" pitchFamily="34" charset="-122"/>
                <a:cs typeface="Calibri" pitchFamily="34" charset="-120"/>
              </a:rPr>
              <a:t>Escáner</a:t>
            </a:r>
            <a:endParaRPr lang="en-US" sz="2200" dirty="0"/>
          </a:p>
        </p:txBody>
      </p:sp>
      <p:sp>
        <p:nvSpPr>
          <p:cNvPr id="23" name="Text 21"/>
          <p:cNvSpPr txBox="1"/>
          <p:nvPr/>
        </p:nvSpPr>
        <p:spPr>
          <a:xfrm>
            <a:off x="4658258" y="5257800"/>
            <a:ext cx="2875178" cy="822960"/>
          </a:xfrm>
          <a:prstGeom prst="rect">
            <a:avLst/>
          </a:prstGeom>
          <a:noFill/>
          <a:ln/>
        </p:spPr>
        <p:txBody>
          <a:bodyPr wrap="square" lIns="0" tIns="0" rIns="0" bIns="0" rtlCol="0" anchor="t"/>
          <a:lstStyle/>
          <a:p>
            <a:pPr indent="0" marL="0">
              <a:buNone/>
            </a:pPr>
            <a:r>
              <a:rPr lang="en-US" sz="1400" dirty="0">
                <a:solidFill>
                  <a:srgbClr val="DCE6F0"/>
                </a:solidFill>
                <a:latin typeface="Calibri" pitchFamily="34" charset="0"/>
                <a:ea typeface="Calibri" pitchFamily="34" charset="-122"/>
                <a:cs typeface="Calibri" pitchFamily="34" charset="-120"/>
              </a:rPr>
              <a:t>Cámara del celular; muestra solo foto, alias y +18.</a:t>
            </a:r>
            <a:endParaRPr lang="en-US" sz="1400" dirty="0"/>
          </a:p>
        </p:txBody>
      </p:sp>
      <p:sp>
        <p:nvSpPr>
          <p:cNvPr id="24" name="paso-6"/>
          <p:cNvSpPr/>
          <p:nvPr/>
        </p:nvSpPr>
        <p:spPr>
          <a:xfrm>
            <a:off x="8127797" y="4160520"/>
            <a:ext cx="3515258" cy="2057400"/>
          </a:xfrm>
          <a:prstGeom prst="roundRect">
            <a:avLst>
              <a:gd name="adj" fmla="val 5333"/>
            </a:avLst>
          </a:prstGeom>
          <a:solidFill>
            <a:srgbClr val="1D3557"/>
          </a:solidFill>
          <a:ln w="12700">
            <a:solidFill>
              <a:srgbClr val="1D3557"/>
            </a:solidFill>
            <a:prstDash val="solid"/>
          </a:ln>
          <a:effectLst>
            <a:outerShdw sx="100000" sy="100000" kx="0" ky="0" algn="bl" rotWithShape="0" blurRad="101600" dist="25400" dir="5400000">
              <a:srgbClr val="1D3557">
                <a:alpha val="12000"/>
              </a:srgbClr>
            </a:outerShdw>
          </a:effectLst>
        </p:spPr>
      </p:sp>
      <p:sp>
        <p:nvSpPr>
          <p:cNvPr id="25" name="Text 23"/>
          <p:cNvSpPr txBox="1"/>
          <p:nvPr/>
        </p:nvSpPr>
        <p:spPr>
          <a:xfrm>
            <a:off x="8447837" y="4389120"/>
            <a:ext cx="2875178" cy="274320"/>
          </a:xfrm>
          <a:prstGeom prst="rect">
            <a:avLst/>
          </a:prstGeom>
          <a:noFill/>
          <a:ln/>
        </p:spPr>
        <p:txBody>
          <a:bodyPr wrap="square" lIns="0" tIns="0" rIns="0" bIns="0" rtlCol="0" anchor="t"/>
          <a:lstStyle/>
          <a:p>
            <a:pPr indent="0" marL="0">
              <a:buNone/>
            </a:pPr>
            <a:r>
              <a:rPr lang="en-US" sz="1200" b="1" dirty="0">
                <a:solidFill>
                  <a:srgbClr val="F77F00"/>
                </a:solidFill>
                <a:latin typeface="Calibri" pitchFamily="34" charset="0"/>
                <a:ea typeface="Calibri" pitchFamily="34" charset="-122"/>
                <a:cs typeface="Calibri" pitchFamily="34" charset="-120"/>
              </a:rPr>
              <a:t>06 · Anfitrión</a:t>
            </a:r>
            <a:endParaRPr lang="en-US" sz="1200" dirty="0"/>
          </a:p>
        </p:txBody>
      </p:sp>
      <p:sp>
        <p:nvSpPr>
          <p:cNvPr id="26" name="Text 24"/>
          <p:cNvSpPr txBox="1"/>
          <p:nvPr/>
        </p:nvSpPr>
        <p:spPr>
          <a:xfrm>
            <a:off x="8447837" y="4709160"/>
            <a:ext cx="2875178" cy="502920"/>
          </a:xfrm>
          <a:prstGeom prst="rect">
            <a:avLst/>
          </a:prstGeom>
          <a:noFill/>
          <a:ln/>
        </p:spPr>
        <p:txBody>
          <a:bodyPr wrap="square" lIns="0" tIns="0" rIns="0" bIns="0" rtlCol="0" anchor="t"/>
          <a:lstStyle/>
          <a:p>
            <a:pPr indent="0" marL="0">
              <a:buNone/>
            </a:pPr>
            <a:r>
              <a:rPr lang="en-US" sz="2200" b="1" dirty="0">
                <a:solidFill>
                  <a:srgbClr val="F8F9FA"/>
                </a:solidFill>
                <a:latin typeface="Calibri" pitchFamily="34" charset="0"/>
                <a:ea typeface="Calibri" pitchFamily="34" charset="-122"/>
                <a:cs typeface="Calibri" pitchFamily="34" charset="-120"/>
              </a:rPr>
              <a:t>Panel</a:t>
            </a:r>
            <a:endParaRPr lang="en-US" sz="2200" dirty="0"/>
          </a:p>
        </p:txBody>
      </p:sp>
      <p:sp>
        <p:nvSpPr>
          <p:cNvPr id="27" name="Text 25"/>
          <p:cNvSpPr txBox="1"/>
          <p:nvPr/>
        </p:nvSpPr>
        <p:spPr>
          <a:xfrm>
            <a:off x="8447837" y="5257800"/>
            <a:ext cx="2875178" cy="822960"/>
          </a:xfrm>
          <a:prstGeom prst="rect">
            <a:avLst/>
          </a:prstGeom>
          <a:noFill/>
          <a:ln/>
        </p:spPr>
        <p:txBody>
          <a:bodyPr wrap="square" lIns="0" tIns="0" rIns="0" bIns="0" rtlCol="0" anchor="t"/>
          <a:lstStyle/>
          <a:p>
            <a:pPr indent="0" marL="0">
              <a:buNone/>
            </a:pPr>
            <a:r>
              <a:rPr lang="en-US" sz="1400" dirty="0">
                <a:solidFill>
                  <a:srgbClr val="DCE6F0"/>
                </a:solidFill>
                <a:latin typeface="Calibri" pitchFamily="34" charset="0"/>
                <a:ea typeface="Calibri" pitchFamily="34" charset="-122"/>
                <a:cs typeface="Calibri" pitchFamily="34" charset="-120"/>
              </a:rPr>
              <a:t>Crear, editar y eliminar eventos; tasa de asistencia.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ESQUELETO DE LA PÁGINA · PANTALLAS CLAVE</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Tres pantallas explican la propuesta</a:t>
            </a:r>
            <a:endParaRPr lang="en-US" sz="3200" dirty="0"/>
          </a:p>
        </p:txBody>
      </p:sp>
      <p:sp>
        <p:nvSpPr>
          <p:cNvPr id="4" name="Shape 2"/>
          <p:cNvSpPr/>
          <p:nvPr/>
        </p:nvSpPr>
        <p:spPr>
          <a:xfrm>
            <a:off x="1417320" y="1783080"/>
            <a:ext cx="1920240" cy="3429000"/>
          </a:xfrm>
          <a:prstGeom prst="roundRect">
            <a:avLst>
              <a:gd name="adj" fmla="val 13333"/>
            </a:avLst>
          </a:prstGeom>
          <a:solidFill>
            <a:srgbClr val="F8F9FA"/>
          </a:solidFill>
          <a:ln w="38100">
            <a:solidFill>
              <a:srgbClr val="1D3557"/>
            </a:solidFill>
            <a:prstDash val="solid"/>
          </a:ln>
          <a:effectLst>
            <a:outerShdw sx="100000" sy="100000" kx="0" ky="0" algn="bl" rotWithShape="0" blurRad="101600" dist="25400" dir="5400000">
              <a:srgbClr val="1D3557">
                <a:alpha val="12000"/>
              </a:srgbClr>
            </a:outerShdw>
          </a:effectLst>
        </p:spPr>
      </p:sp>
      <p:sp>
        <p:nvSpPr>
          <p:cNvPr id="5" name="Shape 3"/>
          <p:cNvSpPr/>
          <p:nvPr/>
        </p:nvSpPr>
        <p:spPr>
          <a:xfrm>
            <a:off x="1581912" y="1965960"/>
            <a:ext cx="914400" cy="146304"/>
          </a:xfrm>
          <a:prstGeom prst="roundRect">
            <a:avLst>
              <a:gd name="adj" fmla="val 37500"/>
            </a:avLst>
          </a:prstGeom>
          <a:solidFill>
            <a:srgbClr val="1D3557"/>
          </a:solidFill>
          <a:ln w="12700">
            <a:solidFill>
              <a:srgbClr val="1D3557"/>
            </a:solidFill>
            <a:prstDash val="solid"/>
          </a:ln>
        </p:spPr>
      </p:sp>
      <p:sp>
        <p:nvSpPr>
          <p:cNvPr id="6" name="Shape 4"/>
          <p:cNvSpPr/>
          <p:nvPr/>
        </p:nvSpPr>
        <p:spPr>
          <a:xfrm>
            <a:off x="1581912" y="2212848"/>
            <a:ext cx="1591056" cy="237744"/>
          </a:xfrm>
          <a:prstGeom prst="roundRect">
            <a:avLst>
              <a:gd name="adj" fmla="val 23077"/>
            </a:avLst>
          </a:prstGeom>
          <a:solidFill>
            <a:srgbClr val="FFFFFF"/>
          </a:solidFill>
          <a:ln w="12700">
            <a:solidFill>
              <a:srgbClr val="FFFFFF"/>
            </a:solidFill>
            <a:prstDash val="solid"/>
          </a:ln>
        </p:spPr>
      </p:sp>
      <p:sp>
        <p:nvSpPr>
          <p:cNvPr id="7" name="Shape 5"/>
          <p:cNvSpPr/>
          <p:nvPr/>
        </p:nvSpPr>
        <p:spPr>
          <a:xfrm>
            <a:off x="1581912" y="2560320"/>
            <a:ext cx="329184" cy="137160"/>
          </a:xfrm>
          <a:prstGeom prst="roundRect">
            <a:avLst>
              <a:gd name="adj" fmla="val 40000"/>
            </a:avLst>
          </a:prstGeom>
          <a:solidFill>
            <a:srgbClr val="1D3557"/>
          </a:solidFill>
          <a:ln w="12700">
            <a:solidFill>
              <a:srgbClr val="1D3557"/>
            </a:solidFill>
            <a:prstDash val="solid"/>
          </a:ln>
        </p:spPr>
      </p:sp>
      <p:sp>
        <p:nvSpPr>
          <p:cNvPr id="8" name="Shape 6"/>
          <p:cNvSpPr/>
          <p:nvPr/>
        </p:nvSpPr>
        <p:spPr>
          <a:xfrm>
            <a:off x="1965960" y="2560320"/>
            <a:ext cx="411480" cy="137160"/>
          </a:xfrm>
          <a:prstGeom prst="roundRect">
            <a:avLst>
              <a:gd name="adj" fmla="val 40000"/>
            </a:avLst>
          </a:prstGeom>
          <a:solidFill>
            <a:srgbClr val="C9D4DF"/>
          </a:solidFill>
          <a:ln w="12700">
            <a:solidFill>
              <a:srgbClr val="C9D4DF"/>
            </a:solidFill>
            <a:prstDash val="solid"/>
          </a:ln>
        </p:spPr>
      </p:sp>
      <p:sp>
        <p:nvSpPr>
          <p:cNvPr id="9" name="Shape 7"/>
          <p:cNvSpPr/>
          <p:nvPr/>
        </p:nvSpPr>
        <p:spPr>
          <a:xfrm>
            <a:off x="2432304" y="2560320"/>
            <a:ext cx="457200" cy="137160"/>
          </a:xfrm>
          <a:prstGeom prst="roundRect">
            <a:avLst>
              <a:gd name="adj" fmla="val 40000"/>
            </a:avLst>
          </a:prstGeom>
          <a:solidFill>
            <a:srgbClr val="F77F00"/>
          </a:solidFill>
          <a:ln w="12700">
            <a:solidFill>
              <a:srgbClr val="F77F00"/>
            </a:solidFill>
            <a:prstDash val="solid"/>
          </a:ln>
        </p:spPr>
      </p:sp>
      <p:sp>
        <p:nvSpPr>
          <p:cNvPr id="10" name="Shape 8"/>
          <p:cNvSpPr/>
          <p:nvPr/>
        </p:nvSpPr>
        <p:spPr>
          <a:xfrm>
            <a:off x="1581912" y="2807208"/>
            <a:ext cx="1591056" cy="1143000"/>
          </a:xfrm>
          <a:prstGeom prst="roundRect">
            <a:avLst>
              <a:gd name="adj" fmla="val 4800"/>
            </a:avLst>
          </a:prstGeom>
          <a:solidFill>
            <a:srgbClr val="A9CCE0"/>
          </a:solidFill>
          <a:ln w="12700">
            <a:solidFill>
              <a:srgbClr val="A9CCE0"/>
            </a:solidFill>
            <a:prstDash val="solid"/>
          </a:ln>
        </p:spPr>
      </p:sp>
      <p:sp>
        <p:nvSpPr>
          <p:cNvPr id="11" name="Shape 9"/>
          <p:cNvSpPr/>
          <p:nvPr/>
        </p:nvSpPr>
        <p:spPr>
          <a:xfrm>
            <a:off x="1874520" y="3063240"/>
            <a:ext cx="146304" cy="146304"/>
          </a:xfrm>
          <a:prstGeom prst="ellipse">
            <a:avLst>
              <a:gd name="adj" fmla="val 37500"/>
            </a:avLst>
          </a:prstGeom>
          <a:solidFill>
            <a:srgbClr val="0077B6"/>
          </a:solidFill>
          <a:ln w="12700">
            <a:solidFill>
              <a:srgbClr val="0077B6"/>
            </a:solidFill>
            <a:prstDash val="solid"/>
          </a:ln>
        </p:spPr>
      </p:sp>
      <p:sp>
        <p:nvSpPr>
          <p:cNvPr id="12" name="Shape 10"/>
          <p:cNvSpPr/>
          <p:nvPr/>
        </p:nvSpPr>
        <p:spPr>
          <a:xfrm>
            <a:off x="2514600" y="3291840"/>
            <a:ext cx="146304" cy="146304"/>
          </a:xfrm>
          <a:prstGeom prst="ellipse">
            <a:avLst>
              <a:gd name="adj" fmla="val 37500"/>
            </a:avLst>
          </a:prstGeom>
          <a:solidFill>
            <a:srgbClr val="F77F00"/>
          </a:solidFill>
          <a:ln w="12700">
            <a:solidFill>
              <a:srgbClr val="F77F00"/>
            </a:solidFill>
            <a:prstDash val="solid"/>
          </a:ln>
        </p:spPr>
      </p:sp>
      <p:sp>
        <p:nvSpPr>
          <p:cNvPr id="13" name="Shape 11"/>
          <p:cNvSpPr/>
          <p:nvPr/>
        </p:nvSpPr>
        <p:spPr>
          <a:xfrm>
            <a:off x="2194560" y="3566160"/>
            <a:ext cx="146304" cy="146304"/>
          </a:xfrm>
          <a:prstGeom prst="ellipse">
            <a:avLst>
              <a:gd name="adj" fmla="val 37500"/>
            </a:avLst>
          </a:prstGeom>
          <a:solidFill>
            <a:srgbClr val="D62839"/>
          </a:solidFill>
          <a:ln w="12700">
            <a:solidFill>
              <a:srgbClr val="D62839"/>
            </a:solidFill>
            <a:prstDash val="solid"/>
          </a:ln>
        </p:spPr>
      </p:sp>
      <p:sp>
        <p:nvSpPr>
          <p:cNvPr id="14" name="Shape 12"/>
          <p:cNvSpPr/>
          <p:nvPr/>
        </p:nvSpPr>
        <p:spPr>
          <a:xfrm>
            <a:off x="1581912" y="4069080"/>
            <a:ext cx="1591056" cy="365760"/>
          </a:xfrm>
          <a:prstGeom prst="roundRect">
            <a:avLst>
              <a:gd name="adj" fmla="val 15000"/>
            </a:avLst>
          </a:prstGeom>
          <a:solidFill>
            <a:srgbClr val="FFFFFF"/>
          </a:solidFill>
          <a:ln w="12700">
            <a:solidFill>
              <a:srgbClr val="FFFFFF"/>
            </a:solidFill>
            <a:prstDash val="solid"/>
          </a:ln>
        </p:spPr>
      </p:sp>
      <p:sp>
        <p:nvSpPr>
          <p:cNvPr id="15" name="Shape 13"/>
          <p:cNvSpPr/>
          <p:nvPr/>
        </p:nvSpPr>
        <p:spPr>
          <a:xfrm>
            <a:off x="1581912" y="4526280"/>
            <a:ext cx="1591056" cy="365760"/>
          </a:xfrm>
          <a:prstGeom prst="roundRect">
            <a:avLst>
              <a:gd name="adj" fmla="val 15000"/>
            </a:avLst>
          </a:prstGeom>
          <a:solidFill>
            <a:srgbClr val="FFFFFF"/>
          </a:solidFill>
          <a:ln w="12700">
            <a:solidFill>
              <a:srgbClr val="FFFFFF"/>
            </a:solidFill>
            <a:prstDash val="solid"/>
          </a:ln>
        </p:spPr>
      </p:sp>
      <p:sp>
        <p:nvSpPr>
          <p:cNvPr id="16" name="Shape 14"/>
          <p:cNvSpPr/>
          <p:nvPr/>
        </p:nvSpPr>
        <p:spPr>
          <a:xfrm>
            <a:off x="5135728" y="1783080"/>
            <a:ext cx="1920240" cy="3429000"/>
          </a:xfrm>
          <a:prstGeom prst="roundRect">
            <a:avLst>
              <a:gd name="adj" fmla="val 13333"/>
            </a:avLst>
          </a:prstGeom>
          <a:solidFill>
            <a:srgbClr val="1D3557"/>
          </a:solidFill>
          <a:ln w="38100">
            <a:solidFill>
              <a:srgbClr val="1D3557"/>
            </a:solidFill>
            <a:prstDash val="solid"/>
          </a:ln>
          <a:effectLst>
            <a:outerShdw sx="100000" sy="100000" kx="0" ky="0" algn="bl" rotWithShape="0" blurRad="101600" dist="25400" dir="5400000">
              <a:srgbClr val="1D3557">
                <a:alpha val="12000"/>
              </a:srgbClr>
            </a:outerShdw>
          </a:effectLst>
        </p:spPr>
      </p:sp>
      <p:sp>
        <p:nvSpPr>
          <p:cNvPr id="17" name="Shape 15"/>
          <p:cNvSpPr/>
          <p:nvPr/>
        </p:nvSpPr>
        <p:spPr>
          <a:xfrm>
            <a:off x="5300320" y="1965960"/>
            <a:ext cx="731520" cy="146304"/>
          </a:xfrm>
          <a:prstGeom prst="roundRect">
            <a:avLst>
              <a:gd name="adj" fmla="val 37500"/>
            </a:avLst>
          </a:prstGeom>
          <a:solidFill>
            <a:srgbClr val="8A9BB0"/>
          </a:solidFill>
          <a:ln w="12700">
            <a:solidFill>
              <a:srgbClr val="8A9BB0"/>
            </a:solidFill>
            <a:prstDash val="solid"/>
          </a:ln>
        </p:spPr>
      </p:sp>
      <p:sp>
        <p:nvSpPr>
          <p:cNvPr id="18" name="Shape 16"/>
          <p:cNvSpPr/>
          <p:nvPr/>
        </p:nvSpPr>
        <p:spPr>
          <a:xfrm>
            <a:off x="5300320" y="2240280"/>
            <a:ext cx="1591056" cy="2103120"/>
          </a:xfrm>
          <a:prstGeom prst="roundRect">
            <a:avLst>
              <a:gd name="adj" fmla="val 3448"/>
            </a:avLst>
          </a:prstGeom>
          <a:solidFill>
            <a:srgbClr val="FFFFFF"/>
          </a:solidFill>
          <a:ln w="12700">
            <a:solidFill>
              <a:srgbClr val="FFFFFF"/>
            </a:solidFill>
            <a:prstDash val="solid"/>
          </a:ln>
        </p:spPr>
      </p:sp>
      <p:sp>
        <p:nvSpPr>
          <p:cNvPr id="19" name="Shape 17"/>
          <p:cNvSpPr/>
          <p:nvPr/>
        </p:nvSpPr>
        <p:spPr>
          <a:xfrm>
            <a:off x="5474056" y="2377440"/>
            <a:ext cx="1243584" cy="128016"/>
          </a:xfrm>
          <a:prstGeom prst="roundRect">
            <a:avLst>
              <a:gd name="adj" fmla="val 42857"/>
            </a:avLst>
          </a:prstGeom>
          <a:solidFill>
            <a:srgbClr val="BFE5CC"/>
          </a:solidFill>
          <a:ln w="12700">
            <a:solidFill>
              <a:srgbClr val="BFE5CC"/>
            </a:solidFill>
            <a:prstDash val="solid"/>
          </a:ln>
        </p:spPr>
      </p:sp>
      <p:sp>
        <p:nvSpPr>
          <p:cNvPr id="20" name="Shape 18"/>
          <p:cNvSpPr/>
          <p:nvPr/>
        </p:nvSpPr>
        <p:spPr>
          <a:xfrm>
            <a:off x="5519776" y="2606040"/>
            <a:ext cx="1152144" cy="1152144"/>
          </a:xfrm>
          <a:prstGeom prst="rect">
            <a:avLst>
              <a:gd name="adj" fmla="val 4762"/>
            </a:avLst>
          </a:prstGeom>
          <a:solidFill>
            <a:srgbClr val="1D3557"/>
          </a:solidFill>
          <a:ln w="12700">
            <a:solidFill>
              <a:srgbClr val="1D3557"/>
            </a:solidFill>
            <a:prstDash val="solid"/>
          </a:ln>
        </p:spPr>
      </p:sp>
      <p:sp>
        <p:nvSpPr>
          <p:cNvPr id="21" name="Shape 19"/>
          <p:cNvSpPr/>
          <p:nvPr/>
        </p:nvSpPr>
        <p:spPr>
          <a:xfrm>
            <a:off x="5638648" y="2724912"/>
            <a:ext cx="914400" cy="914400"/>
          </a:xfrm>
          <a:prstGeom prst="rect">
            <a:avLst>
              <a:gd name="adj" fmla="val 6000"/>
            </a:avLst>
          </a:prstGeom>
          <a:solidFill>
            <a:srgbClr val="FFFFFF"/>
          </a:solidFill>
          <a:ln w="12700">
            <a:solidFill>
              <a:srgbClr val="FFFFFF"/>
            </a:solidFill>
            <a:prstDash val="solid"/>
          </a:ln>
        </p:spPr>
      </p:sp>
      <p:sp>
        <p:nvSpPr>
          <p:cNvPr id="22" name="Shape 20"/>
          <p:cNvSpPr/>
          <p:nvPr/>
        </p:nvSpPr>
        <p:spPr>
          <a:xfrm>
            <a:off x="5748376" y="2834640"/>
            <a:ext cx="292608" cy="292608"/>
          </a:xfrm>
          <a:prstGeom prst="rect">
            <a:avLst>
              <a:gd name="adj" fmla="val 18750"/>
            </a:avLst>
          </a:prstGeom>
          <a:solidFill>
            <a:srgbClr val="1D3557"/>
          </a:solidFill>
          <a:ln w="12700">
            <a:solidFill>
              <a:srgbClr val="1D3557"/>
            </a:solidFill>
            <a:prstDash val="solid"/>
          </a:ln>
        </p:spPr>
      </p:sp>
      <p:sp>
        <p:nvSpPr>
          <p:cNvPr id="23" name="Shape 21"/>
          <p:cNvSpPr/>
          <p:nvPr/>
        </p:nvSpPr>
        <p:spPr>
          <a:xfrm>
            <a:off x="6150712" y="2834640"/>
            <a:ext cx="292608" cy="292608"/>
          </a:xfrm>
          <a:prstGeom prst="rect">
            <a:avLst>
              <a:gd name="adj" fmla="val 18750"/>
            </a:avLst>
          </a:prstGeom>
          <a:solidFill>
            <a:srgbClr val="1D3557"/>
          </a:solidFill>
          <a:ln w="12700">
            <a:solidFill>
              <a:srgbClr val="1D3557"/>
            </a:solidFill>
            <a:prstDash val="solid"/>
          </a:ln>
        </p:spPr>
      </p:sp>
      <p:sp>
        <p:nvSpPr>
          <p:cNvPr id="24" name="Shape 22"/>
          <p:cNvSpPr/>
          <p:nvPr/>
        </p:nvSpPr>
        <p:spPr>
          <a:xfrm>
            <a:off x="5748376" y="3236976"/>
            <a:ext cx="292608" cy="292608"/>
          </a:xfrm>
          <a:prstGeom prst="rect">
            <a:avLst>
              <a:gd name="adj" fmla="val 18750"/>
            </a:avLst>
          </a:prstGeom>
          <a:solidFill>
            <a:srgbClr val="1D3557"/>
          </a:solidFill>
          <a:ln w="12700">
            <a:solidFill>
              <a:srgbClr val="1D3557"/>
            </a:solidFill>
            <a:prstDash val="solid"/>
          </a:ln>
        </p:spPr>
      </p:sp>
      <p:sp>
        <p:nvSpPr>
          <p:cNvPr id="25" name="Shape 23"/>
          <p:cNvSpPr/>
          <p:nvPr/>
        </p:nvSpPr>
        <p:spPr>
          <a:xfrm>
            <a:off x="6150712" y="3236976"/>
            <a:ext cx="292608" cy="292608"/>
          </a:xfrm>
          <a:prstGeom prst="rect">
            <a:avLst>
              <a:gd name="adj" fmla="val 18750"/>
            </a:avLst>
          </a:prstGeom>
          <a:solidFill>
            <a:srgbClr val="FFFFFF"/>
          </a:solidFill>
          <a:ln w="12700">
            <a:solidFill>
              <a:srgbClr val="FFFFFF"/>
            </a:solidFill>
            <a:prstDash val="solid"/>
          </a:ln>
        </p:spPr>
      </p:sp>
      <p:sp>
        <p:nvSpPr>
          <p:cNvPr id="26" name="Shape 24"/>
          <p:cNvSpPr/>
          <p:nvPr/>
        </p:nvSpPr>
        <p:spPr>
          <a:xfrm>
            <a:off x="5638648" y="3931920"/>
            <a:ext cx="914400" cy="109728"/>
          </a:xfrm>
          <a:prstGeom prst="roundRect">
            <a:avLst>
              <a:gd name="adj" fmla="val 50000"/>
            </a:avLst>
          </a:prstGeom>
          <a:solidFill>
            <a:srgbClr val="C9D4DF"/>
          </a:solidFill>
          <a:ln w="12700">
            <a:solidFill>
              <a:srgbClr val="C9D4DF"/>
            </a:solidFill>
            <a:prstDash val="solid"/>
          </a:ln>
        </p:spPr>
      </p:sp>
      <p:sp>
        <p:nvSpPr>
          <p:cNvPr id="27" name="Shape 25"/>
          <p:cNvSpPr/>
          <p:nvPr/>
        </p:nvSpPr>
        <p:spPr>
          <a:xfrm>
            <a:off x="5300320" y="4709160"/>
            <a:ext cx="1591056" cy="292608"/>
          </a:xfrm>
          <a:prstGeom prst="roundRect">
            <a:avLst>
              <a:gd name="adj" fmla="val 18750"/>
            </a:avLst>
          </a:prstGeom>
          <a:solidFill>
            <a:srgbClr val="F77F00"/>
          </a:solidFill>
          <a:ln w="12700">
            <a:solidFill>
              <a:srgbClr val="F77F00"/>
            </a:solidFill>
            <a:prstDash val="solid"/>
          </a:ln>
        </p:spPr>
      </p:sp>
      <p:sp>
        <p:nvSpPr>
          <p:cNvPr id="28" name="Shape 26"/>
          <p:cNvSpPr/>
          <p:nvPr/>
        </p:nvSpPr>
        <p:spPr>
          <a:xfrm>
            <a:off x="8854135" y="1783080"/>
            <a:ext cx="1920240" cy="3429000"/>
          </a:xfrm>
          <a:prstGeom prst="roundRect">
            <a:avLst>
              <a:gd name="adj" fmla="val 13333"/>
            </a:avLst>
          </a:prstGeom>
          <a:solidFill>
            <a:srgbClr val="0E1B2C"/>
          </a:solidFill>
          <a:ln w="38100">
            <a:solidFill>
              <a:srgbClr val="1D3557"/>
            </a:solidFill>
            <a:prstDash val="solid"/>
          </a:ln>
          <a:effectLst>
            <a:outerShdw sx="100000" sy="100000" kx="0" ky="0" algn="bl" rotWithShape="0" blurRad="101600" dist="25400" dir="5400000">
              <a:srgbClr val="1D3557">
                <a:alpha val="12000"/>
              </a:srgbClr>
            </a:outerShdw>
          </a:effectLst>
        </p:spPr>
      </p:sp>
      <p:sp>
        <p:nvSpPr>
          <p:cNvPr id="29" name="Shape 27"/>
          <p:cNvSpPr/>
          <p:nvPr/>
        </p:nvSpPr>
        <p:spPr>
          <a:xfrm>
            <a:off x="9018727" y="1965960"/>
            <a:ext cx="914400" cy="146304"/>
          </a:xfrm>
          <a:prstGeom prst="roundRect">
            <a:avLst>
              <a:gd name="adj" fmla="val 37500"/>
            </a:avLst>
          </a:prstGeom>
          <a:solidFill>
            <a:srgbClr val="8A9BB0"/>
          </a:solidFill>
          <a:ln w="12700">
            <a:solidFill>
              <a:srgbClr val="8A9BB0"/>
            </a:solidFill>
            <a:prstDash val="solid"/>
          </a:ln>
        </p:spPr>
      </p:sp>
      <p:sp>
        <p:nvSpPr>
          <p:cNvPr id="30" name="Shape 28"/>
          <p:cNvSpPr/>
          <p:nvPr/>
        </p:nvSpPr>
        <p:spPr>
          <a:xfrm>
            <a:off x="9018727" y="2240280"/>
            <a:ext cx="1591056" cy="1325880"/>
          </a:xfrm>
          <a:prstGeom prst="roundRect">
            <a:avLst>
              <a:gd name="adj" fmla="val 4138"/>
            </a:avLst>
          </a:prstGeom>
          <a:solidFill>
            <a:srgbClr val="22344A"/>
          </a:solidFill>
          <a:ln w="12700">
            <a:solidFill>
              <a:srgbClr val="22344A"/>
            </a:solidFill>
            <a:prstDash val="solid"/>
          </a:ln>
        </p:spPr>
      </p:sp>
      <p:sp>
        <p:nvSpPr>
          <p:cNvPr id="31" name="Shape 29"/>
          <p:cNvSpPr/>
          <p:nvPr/>
        </p:nvSpPr>
        <p:spPr>
          <a:xfrm>
            <a:off x="9402775" y="2514600"/>
            <a:ext cx="822960" cy="822960"/>
          </a:xfrm>
          <a:prstGeom prst="roundRect">
            <a:avLst>
              <a:gd name="adj" fmla="val 11111"/>
            </a:avLst>
          </a:prstGeom>
          <a:solidFill>
            <a:srgbClr val="22344A"/>
          </a:solidFill>
          <a:ln w="31750">
            <a:solidFill>
              <a:srgbClr val="F77F00"/>
            </a:solidFill>
            <a:prstDash val="solid"/>
          </a:ln>
        </p:spPr>
      </p:sp>
      <p:sp>
        <p:nvSpPr>
          <p:cNvPr id="32" name="Shape 30"/>
          <p:cNvSpPr/>
          <p:nvPr/>
        </p:nvSpPr>
        <p:spPr>
          <a:xfrm>
            <a:off x="9018727" y="3703320"/>
            <a:ext cx="1591056" cy="1280160"/>
          </a:xfrm>
          <a:prstGeom prst="roundRect">
            <a:avLst>
              <a:gd name="adj" fmla="val 4286"/>
            </a:avLst>
          </a:prstGeom>
          <a:solidFill>
            <a:srgbClr val="FFFFFF"/>
          </a:solidFill>
          <a:ln w="12700">
            <a:solidFill>
              <a:srgbClr val="FFFFFF"/>
            </a:solidFill>
            <a:prstDash val="solid"/>
          </a:ln>
        </p:spPr>
      </p:sp>
      <p:sp>
        <p:nvSpPr>
          <p:cNvPr id="33" name="Shape 31"/>
          <p:cNvSpPr/>
          <p:nvPr/>
        </p:nvSpPr>
        <p:spPr>
          <a:xfrm>
            <a:off x="9128455" y="3813048"/>
            <a:ext cx="347472" cy="347472"/>
          </a:xfrm>
          <a:prstGeom prst="ellipse">
            <a:avLst>
              <a:gd name="adj" fmla="val 15789"/>
            </a:avLst>
          </a:prstGeom>
          <a:solidFill>
            <a:srgbClr val="DDE6EE"/>
          </a:solidFill>
          <a:ln w="12700">
            <a:solidFill>
              <a:srgbClr val="DDE6EE"/>
            </a:solidFill>
            <a:prstDash val="solid"/>
          </a:ln>
        </p:spPr>
      </p:sp>
      <p:sp>
        <p:nvSpPr>
          <p:cNvPr id="34" name="Shape 32"/>
          <p:cNvSpPr/>
          <p:nvPr/>
        </p:nvSpPr>
        <p:spPr>
          <a:xfrm>
            <a:off x="9567367" y="3904488"/>
            <a:ext cx="822960" cy="146304"/>
          </a:xfrm>
          <a:prstGeom prst="roundRect">
            <a:avLst>
              <a:gd name="adj" fmla="val 37500"/>
            </a:avLst>
          </a:prstGeom>
          <a:solidFill>
            <a:srgbClr val="1D3557"/>
          </a:solidFill>
          <a:ln w="12700">
            <a:solidFill>
              <a:srgbClr val="1D3557"/>
            </a:solidFill>
            <a:prstDash val="solid"/>
          </a:ln>
        </p:spPr>
      </p:sp>
      <p:sp>
        <p:nvSpPr>
          <p:cNvPr id="35" name="Shape 33"/>
          <p:cNvSpPr/>
          <p:nvPr/>
        </p:nvSpPr>
        <p:spPr>
          <a:xfrm>
            <a:off x="9128455" y="4279392"/>
            <a:ext cx="685800" cy="155448"/>
          </a:xfrm>
          <a:prstGeom prst="roundRect">
            <a:avLst>
              <a:gd name="adj" fmla="val 35294"/>
            </a:avLst>
          </a:prstGeom>
          <a:solidFill>
            <a:srgbClr val="BFE5CC"/>
          </a:solidFill>
          <a:ln w="12700">
            <a:solidFill>
              <a:srgbClr val="BFE5CC"/>
            </a:solidFill>
            <a:prstDash val="solid"/>
          </a:ln>
        </p:spPr>
      </p:sp>
      <p:sp>
        <p:nvSpPr>
          <p:cNvPr id="36" name="Shape 34"/>
          <p:cNvSpPr/>
          <p:nvPr/>
        </p:nvSpPr>
        <p:spPr>
          <a:xfrm>
            <a:off x="9878263" y="4279392"/>
            <a:ext cx="548640" cy="155448"/>
          </a:xfrm>
          <a:prstGeom prst="roundRect">
            <a:avLst>
              <a:gd name="adj" fmla="val 35294"/>
            </a:avLst>
          </a:prstGeom>
          <a:solidFill>
            <a:srgbClr val="BFDDF0"/>
          </a:solidFill>
          <a:ln w="12700">
            <a:solidFill>
              <a:srgbClr val="BFDDF0"/>
            </a:solidFill>
            <a:prstDash val="solid"/>
          </a:ln>
        </p:spPr>
      </p:sp>
      <p:sp>
        <p:nvSpPr>
          <p:cNvPr id="37" name="Shape 35"/>
          <p:cNvSpPr/>
          <p:nvPr/>
        </p:nvSpPr>
        <p:spPr>
          <a:xfrm>
            <a:off x="9128455" y="4590288"/>
            <a:ext cx="1371600" cy="237744"/>
          </a:xfrm>
          <a:prstGeom prst="roundRect">
            <a:avLst>
              <a:gd name="adj" fmla="val 23077"/>
            </a:avLst>
          </a:prstGeom>
          <a:solidFill>
            <a:srgbClr val="0077B6"/>
          </a:solidFill>
          <a:ln w="12700">
            <a:solidFill>
              <a:srgbClr val="0077B6"/>
            </a:solidFill>
            <a:prstDash val="solid"/>
          </a:ln>
        </p:spPr>
      </p:sp>
      <p:sp>
        <p:nvSpPr>
          <p:cNvPr id="38" name="Text 36"/>
          <p:cNvSpPr txBox="1"/>
          <p:nvPr/>
        </p:nvSpPr>
        <p:spPr>
          <a:xfrm>
            <a:off x="640080" y="5349240"/>
            <a:ext cx="3474720" cy="365760"/>
          </a:xfrm>
          <a:prstGeom prst="rect">
            <a:avLst/>
          </a:prstGeom>
          <a:noFill/>
          <a:ln/>
        </p:spPr>
        <p:txBody>
          <a:bodyPr wrap="square" lIns="0" tIns="0" rIns="0" bIns="0" rtlCol="0" anchor="t"/>
          <a:lstStyle/>
          <a:p>
            <a:pPr algn="ctr" indent="0" marL="0">
              <a:buNone/>
            </a:pPr>
            <a:r>
              <a:rPr lang="en-US" sz="1800" b="1" dirty="0">
                <a:solidFill>
                  <a:srgbClr val="1D3557"/>
                </a:solidFill>
                <a:latin typeface="Calibri" pitchFamily="34" charset="0"/>
                <a:ea typeface="Calibri" pitchFamily="34" charset="-122"/>
                <a:cs typeface="Calibri" pitchFamily="34" charset="-120"/>
              </a:rPr>
              <a:t>Explorar</a:t>
            </a:r>
            <a:endParaRPr lang="en-US" sz="1800" dirty="0"/>
          </a:p>
        </p:txBody>
      </p:sp>
      <p:sp>
        <p:nvSpPr>
          <p:cNvPr id="39" name="Text 37"/>
          <p:cNvSpPr txBox="1"/>
          <p:nvPr/>
        </p:nvSpPr>
        <p:spPr>
          <a:xfrm>
            <a:off x="640080" y="5715000"/>
            <a:ext cx="3474720" cy="640080"/>
          </a:xfrm>
          <a:prstGeom prst="rect">
            <a:avLst/>
          </a:prstGeom>
          <a:noFill/>
          <a:ln/>
        </p:spPr>
        <p:txBody>
          <a:bodyPr wrap="square" lIns="0" tIns="0" rIns="0" bIns="0" rtlCol="0" anchor="t"/>
          <a:lstStyle/>
          <a:p>
            <a:pPr algn="ctr" indent="0" marL="0">
              <a:buNone/>
            </a:pPr>
            <a:r>
              <a:rPr lang="en-US" sz="1300" dirty="0">
                <a:solidFill>
                  <a:srgbClr val="3E5068"/>
                </a:solidFill>
                <a:latin typeface="Calibri" pitchFamily="34" charset="0"/>
                <a:ea typeface="Calibri" pitchFamily="34" charset="-122"/>
                <a:cs typeface="Calibri" pitchFamily="34" charset="-120"/>
              </a:rPr>
              <a:t>Mapa con colores por estado: abierto, últimos cupos, lleno, en vivo.</a:t>
            </a:r>
            <a:endParaRPr lang="en-US" sz="1300" dirty="0"/>
          </a:p>
        </p:txBody>
      </p:sp>
      <p:sp>
        <p:nvSpPr>
          <p:cNvPr id="40" name="Text 38"/>
          <p:cNvSpPr txBox="1"/>
          <p:nvPr/>
        </p:nvSpPr>
        <p:spPr>
          <a:xfrm>
            <a:off x="4358488" y="5349240"/>
            <a:ext cx="3474720" cy="365760"/>
          </a:xfrm>
          <a:prstGeom prst="rect">
            <a:avLst/>
          </a:prstGeom>
          <a:noFill/>
          <a:ln/>
        </p:spPr>
        <p:txBody>
          <a:bodyPr wrap="square" lIns="0" tIns="0" rIns="0" bIns="0" rtlCol="0" anchor="t"/>
          <a:lstStyle/>
          <a:p>
            <a:pPr algn="ctr" indent="0" marL="0">
              <a:buNone/>
            </a:pPr>
            <a:r>
              <a:rPr lang="en-US" sz="1800" b="1" dirty="0">
                <a:solidFill>
                  <a:srgbClr val="1D3557"/>
                </a:solidFill>
                <a:latin typeface="Calibri" pitchFamily="34" charset="0"/>
                <a:ea typeface="Calibri" pitchFamily="34" charset="-122"/>
                <a:cs typeface="Calibri" pitchFamily="34" charset="-120"/>
              </a:rPr>
              <a:t>Mi pase QR</a:t>
            </a:r>
            <a:endParaRPr lang="en-US" sz="1800" dirty="0"/>
          </a:p>
        </p:txBody>
      </p:sp>
      <p:sp>
        <p:nvSpPr>
          <p:cNvPr id="41" name="Text 39"/>
          <p:cNvSpPr txBox="1"/>
          <p:nvPr/>
        </p:nvSpPr>
        <p:spPr>
          <a:xfrm>
            <a:off x="4358488" y="5715000"/>
            <a:ext cx="3474720" cy="640080"/>
          </a:xfrm>
          <a:prstGeom prst="rect">
            <a:avLst/>
          </a:prstGeom>
          <a:noFill/>
          <a:ln/>
        </p:spPr>
        <p:txBody>
          <a:bodyPr wrap="square" lIns="0" tIns="0" rIns="0" bIns="0" rtlCol="0" anchor="t"/>
          <a:lstStyle/>
          <a:p>
            <a:pPr algn="ctr" indent="0" marL="0">
              <a:buNone/>
            </a:pPr>
            <a:r>
              <a:rPr lang="en-US" sz="1300" dirty="0">
                <a:solidFill>
                  <a:srgbClr val="3E5068"/>
                </a:solidFill>
                <a:latin typeface="Calibri" pitchFamily="34" charset="0"/>
                <a:ea typeface="Calibri" pitchFamily="34" charset="-122"/>
                <a:cs typeface="Calibri" pitchFamily="34" charset="-120"/>
              </a:rPr>
              <a:t>El QR lleva solo un código firmado, ningún dato personal.</a:t>
            </a:r>
            <a:endParaRPr lang="en-US" sz="1300" dirty="0"/>
          </a:p>
        </p:txBody>
      </p:sp>
      <p:sp>
        <p:nvSpPr>
          <p:cNvPr id="42" name="Text 40"/>
          <p:cNvSpPr txBox="1"/>
          <p:nvPr/>
        </p:nvSpPr>
        <p:spPr>
          <a:xfrm>
            <a:off x="8076895" y="5349240"/>
            <a:ext cx="3474720" cy="365760"/>
          </a:xfrm>
          <a:prstGeom prst="rect">
            <a:avLst/>
          </a:prstGeom>
          <a:noFill/>
          <a:ln/>
        </p:spPr>
        <p:txBody>
          <a:bodyPr wrap="square" lIns="0" tIns="0" rIns="0" bIns="0" rtlCol="0" anchor="t"/>
          <a:lstStyle/>
          <a:p>
            <a:pPr algn="ctr" indent="0" marL="0">
              <a:buNone/>
            </a:pPr>
            <a:r>
              <a:rPr lang="en-US" sz="1800" b="1" dirty="0">
                <a:solidFill>
                  <a:srgbClr val="1D3557"/>
                </a:solidFill>
                <a:latin typeface="Calibri" pitchFamily="34" charset="0"/>
                <a:ea typeface="Calibri" pitchFamily="34" charset="-122"/>
                <a:cs typeface="Calibri" pitchFamily="34" charset="-120"/>
              </a:rPr>
              <a:t>Escáner del anfitrión</a:t>
            </a:r>
            <a:endParaRPr lang="en-US" sz="1800" dirty="0"/>
          </a:p>
        </p:txBody>
      </p:sp>
      <p:sp>
        <p:nvSpPr>
          <p:cNvPr id="43" name="Text 41"/>
          <p:cNvSpPr txBox="1"/>
          <p:nvPr/>
        </p:nvSpPr>
        <p:spPr>
          <a:xfrm>
            <a:off x="8076895" y="5715000"/>
            <a:ext cx="3474720" cy="640080"/>
          </a:xfrm>
          <a:prstGeom prst="rect">
            <a:avLst/>
          </a:prstGeom>
          <a:noFill/>
          <a:ln/>
        </p:spPr>
        <p:txBody>
          <a:bodyPr wrap="square" lIns="0" tIns="0" rIns="0" bIns="0" rtlCol="0" anchor="t"/>
          <a:lstStyle/>
          <a:p>
            <a:pPr algn="ctr" indent="0" marL="0">
              <a:buNone/>
            </a:pPr>
            <a:r>
              <a:rPr lang="en-US" sz="1300" dirty="0">
                <a:solidFill>
                  <a:srgbClr val="3E5068"/>
                </a:solidFill>
                <a:latin typeface="Calibri" pitchFamily="34" charset="0"/>
                <a:ea typeface="Calibri" pitchFamily="34" charset="-122"/>
                <a:cs typeface="Calibri" pitchFamily="34" charset="-120"/>
              </a:rPr>
              <a:t>Validación ciega: foto, alias, pase autorizado y +18. Nada más.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IDENTIDAD VISUAL</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Colores de Cartagena, pensada para el celular</a:t>
            </a:r>
            <a:endParaRPr lang="en-US" sz="3200" dirty="0"/>
          </a:p>
        </p:txBody>
      </p:sp>
      <p:sp>
        <p:nvSpPr>
          <p:cNvPr id="4" name="color-1"/>
          <p:cNvSpPr/>
          <p:nvPr/>
        </p:nvSpPr>
        <p:spPr>
          <a:xfrm>
            <a:off x="548640" y="1828800"/>
            <a:ext cx="2567864" cy="1188720"/>
          </a:xfrm>
          <a:prstGeom prst="roundRect">
            <a:avLst>
              <a:gd name="adj" fmla="val 9231"/>
            </a:avLst>
          </a:prstGeom>
          <a:solidFill>
            <a:srgbClr val="0077B6"/>
          </a:solidFill>
          <a:ln w="12700">
            <a:solidFill>
              <a:srgbClr val="0077B6"/>
            </a:solidFill>
            <a:prstDash val="solid"/>
          </a:ln>
        </p:spPr>
      </p:sp>
      <p:sp>
        <p:nvSpPr>
          <p:cNvPr id="5" name="Text 3"/>
          <p:cNvSpPr txBox="1"/>
          <p:nvPr/>
        </p:nvSpPr>
        <p:spPr>
          <a:xfrm>
            <a:off x="548640" y="3127248"/>
            <a:ext cx="2567864" cy="365760"/>
          </a:xfrm>
          <a:prstGeom prst="rect">
            <a:avLst/>
          </a:prstGeom>
          <a:noFill/>
          <a:ln/>
        </p:spPr>
        <p:txBody>
          <a:bodyPr wrap="square" lIns="0" tIns="0" rIns="0" bIns="0" rtlCol="0" anchor="t"/>
          <a:lstStyle/>
          <a:p>
            <a:pPr indent="0" marL="0">
              <a:buNone/>
            </a:pPr>
            <a:r>
              <a:rPr lang="en-US" sz="1600" b="1" dirty="0">
                <a:solidFill>
                  <a:srgbClr val="1D3557"/>
                </a:solidFill>
                <a:latin typeface="Calibri" pitchFamily="34" charset="0"/>
                <a:ea typeface="Calibri" pitchFamily="34" charset="-122"/>
                <a:cs typeface="Calibri" pitchFamily="34" charset="-120"/>
              </a:rPr>
              <a:t>Azul Caribe</a:t>
            </a:r>
            <a:endParaRPr lang="en-US" sz="1600" dirty="0"/>
          </a:p>
        </p:txBody>
      </p:sp>
      <p:sp>
        <p:nvSpPr>
          <p:cNvPr id="6" name="Text 4"/>
          <p:cNvSpPr txBox="1"/>
          <p:nvPr/>
        </p:nvSpPr>
        <p:spPr>
          <a:xfrm>
            <a:off x="548640" y="3474720"/>
            <a:ext cx="2567864" cy="320040"/>
          </a:xfrm>
          <a:prstGeom prst="rect">
            <a:avLst/>
          </a:prstGeom>
          <a:noFill/>
          <a:ln/>
        </p:spPr>
        <p:txBody>
          <a:bodyPr wrap="square" lIns="0" tIns="0" rIns="0" bIns="0" rtlCol="0" anchor="t"/>
          <a:lstStyle/>
          <a:p>
            <a:pPr indent="0" marL="0">
              <a:buNone/>
            </a:pPr>
            <a:r>
              <a:rPr lang="en-US" sz="1200" dirty="0">
                <a:solidFill>
                  <a:srgbClr val="4A5B70"/>
                </a:solidFill>
                <a:latin typeface="Calibri" pitchFamily="34" charset="0"/>
                <a:ea typeface="Calibri" pitchFamily="34" charset="-122"/>
                <a:cs typeface="Calibri" pitchFamily="34" charset="-120"/>
              </a:rPr>
              <a:t>#0077B6 · acciones</a:t>
            </a:r>
            <a:endParaRPr lang="en-US" sz="1200" dirty="0"/>
          </a:p>
        </p:txBody>
      </p:sp>
      <p:sp>
        <p:nvSpPr>
          <p:cNvPr id="7" name="color-2"/>
          <p:cNvSpPr/>
          <p:nvPr/>
        </p:nvSpPr>
        <p:spPr>
          <a:xfrm>
            <a:off x="3390824" y="1828800"/>
            <a:ext cx="2567864" cy="1188720"/>
          </a:xfrm>
          <a:prstGeom prst="roundRect">
            <a:avLst>
              <a:gd name="adj" fmla="val 9231"/>
            </a:avLst>
          </a:prstGeom>
          <a:solidFill>
            <a:srgbClr val="F77F00"/>
          </a:solidFill>
          <a:ln w="12700">
            <a:solidFill>
              <a:srgbClr val="F77F00"/>
            </a:solidFill>
            <a:prstDash val="solid"/>
          </a:ln>
        </p:spPr>
      </p:sp>
      <p:sp>
        <p:nvSpPr>
          <p:cNvPr id="8" name="Text 6"/>
          <p:cNvSpPr txBox="1"/>
          <p:nvPr/>
        </p:nvSpPr>
        <p:spPr>
          <a:xfrm>
            <a:off x="3390824" y="3127248"/>
            <a:ext cx="2567864" cy="365760"/>
          </a:xfrm>
          <a:prstGeom prst="rect">
            <a:avLst/>
          </a:prstGeom>
          <a:noFill/>
          <a:ln/>
        </p:spPr>
        <p:txBody>
          <a:bodyPr wrap="square" lIns="0" tIns="0" rIns="0" bIns="0" rtlCol="0" anchor="t"/>
          <a:lstStyle/>
          <a:p>
            <a:pPr indent="0" marL="0">
              <a:buNone/>
            </a:pPr>
            <a:r>
              <a:rPr lang="en-US" sz="1600" b="1" dirty="0">
                <a:solidFill>
                  <a:srgbClr val="1D3557"/>
                </a:solidFill>
                <a:latin typeface="Calibri" pitchFamily="34" charset="0"/>
                <a:ea typeface="Calibri" pitchFamily="34" charset="-122"/>
                <a:cs typeface="Calibri" pitchFamily="34" charset="-120"/>
              </a:rPr>
              <a:t>Amarillo Sol</a:t>
            </a:r>
            <a:endParaRPr lang="en-US" sz="1600" dirty="0"/>
          </a:p>
        </p:txBody>
      </p:sp>
      <p:sp>
        <p:nvSpPr>
          <p:cNvPr id="9" name="Text 7"/>
          <p:cNvSpPr txBox="1"/>
          <p:nvPr/>
        </p:nvSpPr>
        <p:spPr>
          <a:xfrm>
            <a:off x="3390824" y="3474720"/>
            <a:ext cx="2567864" cy="320040"/>
          </a:xfrm>
          <a:prstGeom prst="rect">
            <a:avLst/>
          </a:prstGeom>
          <a:noFill/>
          <a:ln/>
        </p:spPr>
        <p:txBody>
          <a:bodyPr wrap="square" lIns="0" tIns="0" rIns="0" bIns="0" rtlCol="0" anchor="t"/>
          <a:lstStyle/>
          <a:p>
            <a:pPr indent="0" marL="0">
              <a:buNone/>
            </a:pPr>
            <a:r>
              <a:rPr lang="en-US" sz="1200" dirty="0">
                <a:solidFill>
                  <a:srgbClr val="4A5B70"/>
                </a:solidFill>
                <a:latin typeface="Calibri" pitchFamily="34" charset="0"/>
                <a:ea typeface="Calibri" pitchFamily="34" charset="-122"/>
                <a:cs typeface="Calibri" pitchFamily="34" charset="-120"/>
              </a:rPr>
              <a:t>#F77F00 · destacados</a:t>
            </a:r>
            <a:endParaRPr lang="en-US" sz="1200" dirty="0"/>
          </a:p>
        </p:txBody>
      </p:sp>
      <p:sp>
        <p:nvSpPr>
          <p:cNvPr id="10" name="color-3"/>
          <p:cNvSpPr/>
          <p:nvPr/>
        </p:nvSpPr>
        <p:spPr>
          <a:xfrm>
            <a:off x="6233008" y="1828800"/>
            <a:ext cx="2567864" cy="1188720"/>
          </a:xfrm>
          <a:prstGeom prst="roundRect">
            <a:avLst>
              <a:gd name="adj" fmla="val 9231"/>
            </a:avLst>
          </a:prstGeom>
          <a:solidFill>
            <a:srgbClr val="1D3557"/>
          </a:solidFill>
          <a:ln w="12700">
            <a:solidFill>
              <a:srgbClr val="1D3557"/>
            </a:solidFill>
            <a:prstDash val="solid"/>
          </a:ln>
        </p:spPr>
      </p:sp>
      <p:sp>
        <p:nvSpPr>
          <p:cNvPr id="11" name="Text 9"/>
          <p:cNvSpPr txBox="1"/>
          <p:nvPr/>
        </p:nvSpPr>
        <p:spPr>
          <a:xfrm>
            <a:off x="6233008" y="3127248"/>
            <a:ext cx="2567864" cy="365760"/>
          </a:xfrm>
          <a:prstGeom prst="rect">
            <a:avLst/>
          </a:prstGeom>
          <a:noFill/>
          <a:ln/>
        </p:spPr>
        <p:txBody>
          <a:bodyPr wrap="square" lIns="0" tIns="0" rIns="0" bIns="0" rtlCol="0" anchor="t"/>
          <a:lstStyle/>
          <a:p>
            <a:pPr indent="0" marL="0">
              <a:buNone/>
            </a:pPr>
            <a:r>
              <a:rPr lang="en-US" sz="1600" b="1" dirty="0">
                <a:solidFill>
                  <a:srgbClr val="1D3557"/>
                </a:solidFill>
                <a:latin typeface="Calibri" pitchFamily="34" charset="0"/>
                <a:ea typeface="Calibri" pitchFamily="34" charset="-122"/>
                <a:cs typeface="Calibri" pitchFamily="34" charset="-120"/>
              </a:rPr>
              <a:t>Colonial Dark</a:t>
            </a:r>
            <a:endParaRPr lang="en-US" sz="1600" dirty="0"/>
          </a:p>
        </p:txBody>
      </p:sp>
      <p:sp>
        <p:nvSpPr>
          <p:cNvPr id="12" name="Text 10"/>
          <p:cNvSpPr txBox="1"/>
          <p:nvPr/>
        </p:nvSpPr>
        <p:spPr>
          <a:xfrm>
            <a:off x="6233008" y="3474720"/>
            <a:ext cx="2567864" cy="320040"/>
          </a:xfrm>
          <a:prstGeom prst="rect">
            <a:avLst/>
          </a:prstGeom>
          <a:noFill/>
          <a:ln/>
        </p:spPr>
        <p:txBody>
          <a:bodyPr wrap="square" lIns="0" tIns="0" rIns="0" bIns="0" rtlCol="0" anchor="t"/>
          <a:lstStyle/>
          <a:p>
            <a:pPr indent="0" marL="0">
              <a:buNone/>
            </a:pPr>
            <a:r>
              <a:rPr lang="en-US" sz="1200" dirty="0">
                <a:solidFill>
                  <a:srgbClr val="4A5B70"/>
                </a:solidFill>
                <a:latin typeface="Calibri" pitchFamily="34" charset="0"/>
                <a:ea typeface="Calibri" pitchFamily="34" charset="-122"/>
                <a:cs typeface="Calibri" pitchFamily="34" charset="-120"/>
              </a:rPr>
              <a:t>#1D3557 · texto</a:t>
            </a:r>
            <a:endParaRPr lang="en-US" sz="1200" dirty="0"/>
          </a:p>
        </p:txBody>
      </p:sp>
      <p:sp>
        <p:nvSpPr>
          <p:cNvPr id="13" name="color-4"/>
          <p:cNvSpPr/>
          <p:nvPr/>
        </p:nvSpPr>
        <p:spPr>
          <a:xfrm>
            <a:off x="9075191" y="1828800"/>
            <a:ext cx="2567864" cy="1188720"/>
          </a:xfrm>
          <a:prstGeom prst="roundRect">
            <a:avLst>
              <a:gd name="adj" fmla="val 9231"/>
            </a:avLst>
          </a:prstGeom>
          <a:solidFill>
            <a:srgbClr val="F8F9FA"/>
          </a:solidFill>
          <a:ln w="12700">
            <a:solidFill>
              <a:srgbClr val="C9D4DF"/>
            </a:solidFill>
            <a:prstDash val="solid"/>
          </a:ln>
        </p:spPr>
      </p:sp>
      <p:sp>
        <p:nvSpPr>
          <p:cNvPr id="14" name="Text 12"/>
          <p:cNvSpPr txBox="1"/>
          <p:nvPr/>
        </p:nvSpPr>
        <p:spPr>
          <a:xfrm>
            <a:off x="9075191" y="3127248"/>
            <a:ext cx="2567864" cy="365760"/>
          </a:xfrm>
          <a:prstGeom prst="rect">
            <a:avLst/>
          </a:prstGeom>
          <a:noFill/>
          <a:ln/>
        </p:spPr>
        <p:txBody>
          <a:bodyPr wrap="square" lIns="0" tIns="0" rIns="0" bIns="0" rtlCol="0" anchor="t"/>
          <a:lstStyle/>
          <a:p>
            <a:pPr indent="0" marL="0">
              <a:buNone/>
            </a:pPr>
            <a:r>
              <a:rPr lang="en-US" sz="1600" b="1" dirty="0">
                <a:solidFill>
                  <a:srgbClr val="1D3557"/>
                </a:solidFill>
                <a:latin typeface="Calibri" pitchFamily="34" charset="0"/>
                <a:ea typeface="Calibri" pitchFamily="34" charset="-122"/>
                <a:cs typeface="Calibri" pitchFamily="34" charset="-120"/>
              </a:rPr>
              <a:t>Blanco Arena</a:t>
            </a:r>
            <a:endParaRPr lang="en-US" sz="1600" dirty="0"/>
          </a:p>
        </p:txBody>
      </p:sp>
      <p:sp>
        <p:nvSpPr>
          <p:cNvPr id="15" name="Text 13"/>
          <p:cNvSpPr txBox="1"/>
          <p:nvPr/>
        </p:nvSpPr>
        <p:spPr>
          <a:xfrm>
            <a:off x="9075191" y="3474720"/>
            <a:ext cx="2567864" cy="320040"/>
          </a:xfrm>
          <a:prstGeom prst="rect">
            <a:avLst/>
          </a:prstGeom>
          <a:noFill/>
          <a:ln/>
        </p:spPr>
        <p:txBody>
          <a:bodyPr wrap="square" lIns="0" tIns="0" rIns="0" bIns="0" rtlCol="0" anchor="t"/>
          <a:lstStyle/>
          <a:p>
            <a:pPr indent="0" marL="0">
              <a:buNone/>
            </a:pPr>
            <a:r>
              <a:rPr lang="en-US" sz="1200" dirty="0">
                <a:solidFill>
                  <a:srgbClr val="4A5B70"/>
                </a:solidFill>
                <a:latin typeface="Calibri" pitchFamily="34" charset="0"/>
                <a:ea typeface="Calibri" pitchFamily="34" charset="-122"/>
                <a:cs typeface="Calibri" pitchFamily="34" charset="-120"/>
              </a:rPr>
              <a:t>#F8F9FA · fondo</a:t>
            </a:r>
            <a:endParaRPr lang="en-US" sz="1200" dirty="0"/>
          </a:p>
        </p:txBody>
      </p:sp>
      <p:sp>
        <p:nvSpPr>
          <p:cNvPr id="16" name="regla-1"/>
          <p:cNvSpPr/>
          <p:nvPr/>
        </p:nvSpPr>
        <p:spPr>
          <a:xfrm>
            <a:off x="548640" y="416052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7" name="Text 15"/>
          <p:cNvSpPr txBox="1"/>
          <p:nvPr/>
        </p:nvSpPr>
        <p:spPr>
          <a:xfrm>
            <a:off x="822960" y="4389120"/>
            <a:ext cx="2019224" cy="41148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Mobile-first</a:t>
            </a:r>
            <a:endParaRPr lang="en-US" sz="1800" dirty="0"/>
          </a:p>
        </p:txBody>
      </p:sp>
      <p:sp>
        <p:nvSpPr>
          <p:cNvPr id="18" name="Text 16"/>
          <p:cNvSpPr txBox="1"/>
          <p:nvPr/>
        </p:nvSpPr>
        <p:spPr>
          <a:xfrm>
            <a:off x="822960" y="4846320"/>
            <a:ext cx="2019224" cy="118872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Pantallas de 390 px; botones de 44 px o más.</a:t>
            </a:r>
            <a:endParaRPr lang="en-US" sz="1400" dirty="0"/>
          </a:p>
        </p:txBody>
      </p:sp>
      <p:sp>
        <p:nvSpPr>
          <p:cNvPr id="19" name="regla-2"/>
          <p:cNvSpPr/>
          <p:nvPr/>
        </p:nvSpPr>
        <p:spPr>
          <a:xfrm>
            <a:off x="3390824" y="416052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20" name="Text 18"/>
          <p:cNvSpPr txBox="1"/>
          <p:nvPr/>
        </p:nvSpPr>
        <p:spPr>
          <a:xfrm>
            <a:off x="3665144" y="4389120"/>
            <a:ext cx="2019224" cy="41148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Contraste AA</a:t>
            </a:r>
            <a:endParaRPr lang="en-US" sz="1800" dirty="0"/>
          </a:p>
        </p:txBody>
      </p:sp>
      <p:sp>
        <p:nvSpPr>
          <p:cNvPr id="21" name="Text 19"/>
          <p:cNvSpPr txBox="1"/>
          <p:nvPr/>
        </p:nvSpPr>
        <p:spPr>
          <a:xfrm>
            <a:off x="3665144" y="4846320"/>
            <a:ext cx="2019224" cy="118872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Texto con 4,5:1 o más sobre su fondo (WCAG).</a:t>
            </a:r>
            <a:endParaRPr lang="en-US" sz="1400" dirty="0"/>
          </a:p>
        </p:txBody>
      </p:sp>
      <p:sp>
        <p:nvSpPr>
          <p:cNvPr id="22" name="regla-3"/>
          <p:cNvSpPr/>
          <p:nvPr/>
        </p:nvSpPr>
        <p:spPr>
          <a:xfrm>
            <a:off x="6233008" y="416052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23" name="Text 21"/>
          <p:cNvSpPr txBox="1"/>
          <p:nvPr/>
        </p:nvSpPr>
        <p:spPr>
          <a:xfrm>
            <a:off x="6507328" y="4389120"/>
            <a:ext cx="2019224" cy="41148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Movimiento</a:t>
            </a:r>
            <a:endParaRPr lang="en-US" sz="1800" dirty="0"/>
          </a:p>
        </p:txBody>
      </p:sp>
      <p:sp>
        <p:nvSpPr>
          <p:cNvPr id="24" name="Text 22"/>
          <p:cNvSpPr txBox="1"/>
          <p:nvPr/>
        </p:nvSpPr>
        <p:spPr>
          <a:xfrm>
            <a:off x="6507328" y="4846320"/>
            <a:ext cx="2019224" cy="118872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Transiciones de 200 a 300 ms y skeletons de carga.</a:t>
            </a:r>
            <a:endParaRPr lang="en-US" sz="1400" dirty="0"/>
          </a:p>
        </p:txBody>
      </p:sp>
      <p:sp>
        <p:nvSpPr>
          <p:cNvPr id="25" name="regla-4"/>
          <p:cNvSpPr/>
          <p:nvPr/>
        </p:nvSpPr>
        <p:spPr>
          <a:xfrm>
            <a:off x="9075191" y="416052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26" name="Text 24"/>
          <p:cNvSpPr txBox="1"/>
          <p:nvPr/>
        </p:nvSpPr>
        <p:spPr>
          <a:xfrm>
            <a:off x="9349511" y="4389120"/>
            <a:ext cx="2019224" cy="41148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Forma</a:t>
            </a:r>
            <a:endParaRPr lang="en-US" sz="1800" dirty="0"/>
          </a:p>
        </p:txBody>
      </p:sp>
      <p:sp>
        <p:nvSpPr>
          <p:cNvPr id="27" name="Text 25"/>
          <p:cNvSpPr txBox="1"/>
          <p:nvPr/>
        </p:nvSpPr>
        <p:spPr>
          <a:xfrm>
            <a:off x="9349511" y="4846320"/>
            <a:ext cx="2019224" cy="118872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Bordes de 12 px, sombras suaves, letra Plus Jakarta Sans.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3F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200" kern="0" dirty="0">
                <a:solidFill>
                  <a:srgbClr val="0077B6"/>
                </a:solidFill>
                <a:latin typeface="Calibri" pitchFamily="34" charset="0"/>
                <a:ea typeface="Calibri" pitchFamily="34" charset="-122"/>
                <a:cs typeface="Calibri" pitchFamily="34" charset="-120"/>
              </a:rPr>
              <a:t>METODOLOGÍA</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t"/>
          <a:lstStyle/>
          <a:p>
            <a:pPr indent="0" marL="0">
              <a:buNone/>
            </a:pPr>
            <a:r>
              <a:rPr lang="en-US" sz="3200" b="1" dirty="0">
                <a:solidFill>
                  <a:srgbClr val="1D3557"/>
                </a:solidFill>
                <a:latin typeface="Calibri" pitchFamily="34" charset="0"/>
                <a:ea typeface="Calibri" pitchFamily="34" charset="-122"/>
                <a:cs typeface="Calibri" pitchFamily="34" charset="-120"/>
              </a:rPr>
              <a:t>Desarrollo incremental: cada fase entrega algo que funciona</a:t>
            </a:r>
            <a:endParaRPr lang="en-US" sz="3200" dirty="0"/>
          </a:p>
        </p:txBody>
      </p:sp>
      <p:sp>
        <p:nvSpPr>
          <p:cNvPr id="4" name="fase-1"/>
          <p:cNvSpPr/>
          <p:nvPr/>
        </p:nvSpPr>
        <p:spPr>
          <a:xfrm>
            <a:off x="548640" y="2011680"/>
            <a:ext cx="2036003" cy="3291840"/>
          </a:xfrm>
          <a:prstGeom prst="roundRect">
            <a:avLst>
              <a:gd name="adj" fmla="val 5389"/>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5" name="Shape 3"/>
          <p:cNvSpPr/>
          <p:nvPr/>
        </p:nvSpPr>
        <p:spPr>
          <a:xfrm>
            <a:off x="822960" y="2286000"/>
            <a:ext cx="640080" cy="640080"/>
          </a:xfrm>
          <a:prstGeom prst="ellipse">
            <a:avLst/>
          </a:prstGeom>
          <a:solidFill>
            <a:srgbClr val="E3F1F9"/>
          </a:solidFill>
          <a:ln w="12700">
            <a:solidFill>
              <a:srgbClr val="E3F1F9"/>
            </a:solidFill>
            <a:prstDash val="solid"/>
          </a:ln>
        </p:spPr>
      </p:sp>
      <p:sp>
        <p:nvSpPr>
          <p:cNvPr id="6" name="Text 4"/>
          <p:cNvSpPr txBox="1"/>
          <p:nvPr/>
        </p:nvSpPr>
        <p:spPr>
          <a:xfrm>
            <a:off x="822960" y="2286000"/>
            <a:ext cx="640080" cy="640080"/>
          </a:xfrm>
          <a:prstGeom prst="rect">
            <a:avLst/>
          </a:prstGeom>
          <a:noFill/>
          <a:ln/>
        </p:spPr>
        <p:txBody>
          <a:bodyPr wrap="square" lIns="0" tIns="0" rIns="0" bIns="0" rtlCol="0" anchor="ctr"/>
          <a:lstStyle/>
          <a:p>
            <a:pPr algn="ctr" indent="0" marL="0">
              <a:buNone/>
            </a:pPr>
            <a:r>
              <a:rPr lang="en-US" sz="2200" b="1" dirty="0">
                <a:solidFill>
                  <a:srgbClr val="0077B6"/>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822960" y="3154680"/>
            <a:ext cx="1578803" cy="82296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Entorno y frontend</a:t>
            </a:r>
            <a:endParaRPr lang="en-US" sz="1800" dirty="0"/>
          </a:p>
        </p:txBody>
      </p:sp>
      <p:sp>
        <p:nvSpPr>
          <p:cNvPr id="8" name="Text 6"/>
          <p:cNvSpPr txBox="1"/>
          <p:nvPr/>
        </p:nvSpPr>
        <p:spPr>
          <a:xfrm>
            <a:off x="822960" y="4023360"/>
            <a:ext cx="1578803" cy="109728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Django, base.html y páginas navegables</a:t>
            </a:r>
            <a:endParaRPr lang="en-US" sz="1400" dirty="0"/>
          </a:p>
        </p:txBody>
      </p:sp>
      <p:sp>
        <p:nvSpPr>
          <p:cNvPr id="9" name="fase-2"/>
          <p:cNvSpPr/>
          <p:nvPr/>
        </p:nvSpPr>
        <p:spPr>
          <a:xfrm>
            <a:off x="2813243" y="2011680"/>
            <a:ext cx="2036003" cy="3291840"/>
          </a:xfrm>
          <a:prstGeom prst="roundRect">
            <a:avLst>
              <a:gd name="adj" fmla="val 5389"/>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0" name="Shape 8"/>
          <p:cNvSpPr/>
          <p:nvPr/>
        </p:nvSpPr>
        <p:spPr>
          <a:xfrm>
            <a:off x="3087563" y="2286000"/>
            <a:ext cx="640080" cy="640080"/>
          </a:xfrm>
          <a:prstGeom prst="ellipse">
            <a:avLst/>
          </a:prstGeom>
          <a:solidFill>
            <a:srgbClr val="E3F1F9"/>
          </a:solidFill>
          <a:ln w="12700">
            <a:solidFill>
              <a:srgbClr val="E3F1F9"/>
            </a:solidFill>
            <a:prstDash val="solid"/>
          </a:ln>
        </p:spPr>
      </p:sp>
      <p:sp>
        <p:nvSpPr>
          <p:cNvPr id="11" name="Text 9"/>
          <p:cNvSpPr txBox="1"/>
          <p:nvPr/>
        </p:nvSpPr>
        <p:spPr>
          <a:xfrm>
            <a:off x="3087563" y="2286000"/>
            <a:ext cx="640080" cy="640080"/>
          </a:xfrm>
          <a:prstGeom prst="rect">
            <a:avLst/>
          </a:prstGeom>
          <a:noFill/>
          <a:ln/>
        </p:spPr>
        <p:txBody>
          <a:bodyPr wrap="square" lIns="0" tIns="0" rIns="0" bIns="0" rtlCol="0" anchor="ctr"/>
          <a:lstStyle/>
          <a:p>
            <a:pPr algn="ctr" indent="0" marL="0">
              <a:buNone/>
            </a:pPr>
            <a:r>
              <a:rPr lang="en-US" sz="2200" b="1" dirty="0">
                <a:solidFill>
                  <a:srgbClr val="0077B6"/>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3087563" y="3154680"/>
            <a:ext cx="1578803" cy="82296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Backend y MySQL</a:t>
            </a:r>
            <a:endParaRPr lang="en-US" sz="1800" dirty="0"/>
          </a:p>
        </p:txBody>
      </p:sp>
      <p:sp>
        <p:nvSpPr>
          <p:cNvPr id="13" name="Text 11"/>
          <p:cNvSpPr txBox="1"/>
          <p:nvPr/>
        </p:nvSpPr>
        <p:spPr>
          <a:xfrm>
            <a:off x="3087563" y="4023360"/>
            <a:ext cx="1578803" cy="109728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Modelos, migraciones y CRUD de eventos</a:t>
            </a:r>
            <a:endParaRPr lang="en-US" sz="1400" dirty="0"/>
          </a:p>
        </p:txBody>
      </p:sp>
      <p:sp>
        <p:nvSpPr>
          <p:cNvPr id="14" name="fase-3"/>
          <p:cNvSpPr/>
          <p:nvPr/>
        </p:nvSpPr>
        <p:spPr>
          <a:xfrm>
            <a:off x="5077846" y="2011680"/>
            <a:ext cx="2036003" cy="3291840"/>
          </a:xfrm>
          <a:prstGeom prst="roundRect">
            <a:avLst>
              <a:gd name="adj" fmla="val 5389"/>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15" name="Shape 13"/>
          <p:cNvSpPr/>
          <p:nvPr/>
        </p:nvSpPr>
        <p:spPr>
          <a:xfrm>
            <a:off x="5352166" y="2286000"/>
            <a:ext cx="640080" cy="640080"/>
          </a:xfrm>
          <a:prstGeom prst="ellipse">
            <a:avLst/>
          </a:prstGeom>
          <a:solidFill>
            <a:srgbClr val="E3F1F9"/>
          </a:solidFill>
          <a:ln w="12700">
            <a:solidFill>
              <a:srgbClr val="E3F1F9"/>
            </a:solidFill>
            <a:prstDash val="solid"/>
          </a:ln>
        </p:spPr>
      </p:sp>
      <p:sp>
        <p:nvSpPr>
          <p:cNvPr id="16" name="Text 14"/>
          <p:cNvSpPr txBox="1"/>
          <p:nvPr/>
        </p:nvSpPr>
        <p:spPr>
          <a:xfrm>
            <a:off x="5352166" y="2286000"/>
            <a:ext cx="640080" cy="640080"/>
          </a:xfrm>
          <a:prstGeom prst="rect">
            <a:avLst/>
          </a:prstGeom>
          <a:noFill/>
          <a:ln/>
        </p:spPr>
        <p:txBody>
          <a:bodyPr wrap="square" lIns="0" tIns="0" rIns="0" bIns="0" rtlCol="0" anchor="ctr"/>
          <a:lstStyle/>
          <a:p>
            <a:pPr algn="ctr" indent="0" marL="0">
              <a:buNone/>
            </a:pPr>
            <a:r>
              <a:rPr lang="en-US" sz="2200" b="1" dirty="0">
                <a:solidFill>
                  <a:srgbClr val="0077B6"/>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5352166" y="3154680"/>
            <a:ext cx="1578803" cy="82296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Integración</a:t>
            </a:r>
            <a:endParaRPr lang="en-US" sz="1800" dirty="0"/>
          </a:p>
        </p:txBody>
      </p:sp>
      <p:sp>
        <p:nvSpPr>
          <p:cNvPr id="18" name="Text 16"/>
          <p:cNvSpPr txBox="1"/>
          <p:nvPr/>
        </p:nvSpPr>
        <p:spPr>
          <a:xfrm>
            <a:off x="5352166" y="4023360"/>
            <a:ext cx="1578803" cy="109728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Login, roles, QR, escáner y mapa real</a:t>
            </a:r>
            <a:endParaRPr lang="en-US" sz="1400" dirty="0"/>
          </a:p>
        </p:txBody>
      </p:sp>
      <p:sp>
        <p:nvSpPr>
          <p:cNvPr id="19" name="fase-4"/>
          <p:cNvSpPr/>
          <p:nvPr/>
        </p:nvSpPr>
        <p:spPr>
          <a:xfrm>
            <a:off x="7342449" y="2011680"/>
            <a:ext cx="2036003" cy="3291840"/>
          </a:xfrm>
          <a:prstGeom prst="roundRect">
            <a:avLst>
              <a:gd name="adj" fmla="val 5389"/>
            </a:avLst>
          </a:prstGeom>
          <a:solidFill>
            <a:srgbClr val="FFFFFF"/>
          </a:solidFill>
          <a:ln w="12700">
            <a:solidFill>
              <a:srgbClr val="FFFFFF"/>
            </a:solidFill>
            <a:prstDash val="solid"/>
          </a:ln>
          <a:effectLst>
            <a:outerShdw sx="100000" sy="100000" kx="0" ky="0" algn="bl" rotWithShape="0" blurRad="101600" dist="25400" dir="5400000">
              <a:srgbClr val="1D3557">
                <a:alpha val="12000"/>
              </a:srgbClr>
            </a:outerShdw>
          </a:effectLst>
        </p:spPr>
      </p:sp>
      <p:sp>
        <p:nvSpPr>
          <p:cNvPr id="20" name="Shape 18"/>
          <p:cNvSpPr/>
          <p:nvPr/>
        </p:nvSpPr>
        <p:spPr>
          <a:xfrm>
            <a:off x="7616769" y="2286000"/>
            <a:ext cx="640080" cy="640080"/>
          </a:xfrm>
          <a:prstGeom prst="ellipse">
            <a:avLst/>
          </a:prstGeom>
          <a:solidFill>
            <a:srgbClr val="E3F1F9"/>
          </a:solidFill>
          <a:ln w="12700">
            <a:solidFill>
              <a:srgbClr val="E3F1F9"/>
            </a:solidFill>
            <a:prstDash val="solid"/>
          </a:ln>
        </p:spPr>
      </p:sp>
      <p:sp>
        <p:nvSpPr>
          <p:cNvPr id="21" name="Text 19"/>
          <p:cNvSpPr txBox="1"/>
          <p:nvPr/>
        </p:nvSpPr>
        <p:spPr>
          <a:xfrm>
            <a:off x="7616769" y="2286000"/>
            <a:ext cx="640080" cy="640080"/>
          </a:xfrm>
          <a:prstGeom prst="rect">
            <a:avLst/>
          </a:prstGeom>
          <a:noFill/>
          <a:ln/>
        </p:spPr>
        <p:txBody>
          <a:bodyPr wrap="square" lIns="0" tIns="0" rIns="0" bIns="0" rtlCol="0" anchor="ctr"/>
          <a:lstStyle/>
          <a:p>
            <a:pPr algn="ctr" indent="0" marL="0">
              <a:buNone/>
            </a:pPr>
            <a:r>
              <a:rPr lang="en-US" sz="2200" b="1" dirty="0">
                <a:solidFill>
                  <a:srgbClr val="0077B6"/>
                </a:solidFill>
                <a:latin typeface="Calibri" pitchFamily="34" charset="0"/>
                <a:ea typeface="Calibri" pitchFamily="34" charset="-122"/>
                <a:cs typeface="Calibri" pitchFamily="34" charset="-120"/>
              </a:rPr>
              <a:t>4</a:t>
            </a:r>
            <a:endParaRPr lang="en-US" sz="2200" dirty="0"/>
          </a:p>
        </p:txBody>
      </p:sp>
      <p:sp>
        <p:nvSpPr>
          <p:cNvPr id="22" name="Text 20"/>
          <p:cNvSpPr txBox="1"/>
          <p:nvPr/>
        </p:nvSpPr>
        <p:spPr>
          <a:xfrm>
            <a:off x="7616769" y="3154680"/>
            <a:ext cx="1578803" cy="822960"/>
          </a:xfrm>
          <a:prstGeom prst="rect">
            <a:avLst/>
          </a:prstGeom>
          <a:noFill/>
          <a:ln/>
        </p:spPr>
        <p:txBody>
          <a:bodyPr wrap="square" lIns="0" tIns="0" rIns="0" bIns="0" rtlCol="0" anchor="t"/>
          <a:lstStyle/>
          <a:p>
            <a:pPr indent="0" marL="0">
              <a:buNone/>
            </a:pPr>
            <a:r>
              <a:rPr lang="en-US" sz="1800" b="1" dirty="0">
                <a:solidFill>
                  <a:srgbClr val="1D3557"/>
                </a:solidFill>
                <a:latin typeface="Calibri" pitchFamily="34" charset="0"/>
                <a:ea typeface="Calibri" pitchFamily="34" charset="-122"/>
                <a:cs typeface="Calibri" pitchFamily="34" charset="-120"/>
              </a:rPr>
              <a:t>Pruebas</a:t>
            </a:r>
            <a:endParaRPr lang="en-US" sz="1800" dirty="0"/>
          </a:p>
        </p:txBody>
      </p:sp>
      <p:sp>
        <p:nvSpPr>
          <p:cNvPr id="23" name="Text 21"/>
          <p:cNvSpPr txBox="1"/>
          <p:nvPr/>
        </p:nvSpPr>
        <p:spPr>
          <a:xfrm>
            <a:off x="7616769" y="4023360"/>
            <a:ext cx="1578803" cy="1097280"/>
          </a:xfrm>
          <a:prstGeom prst="rect">
            <a:avLst/>
          </a:prstGeom>
          <a:noFill/>
          <a:ln/>
        </p:spPr>
        <p:txBody>
          <a:bodyPr wrap="square" lIns="0" tIns="0" rIns="0" bIns="0" rtlCol="0" anchor="t"/>
          <a:lstStyle/>
          <a:p>
            <a:pPr indent="0" marL="0">
              <a:buNone/>
            </a:pPr>
            <a:r>
              <a:rPr lang="en-US" sz="1400" dirty="0">
                <a:solidFill>
                  <a:srgbClr val="3E5068"/>
                </a:solidFill>
                <a:latin typeface="Calibri" pitchFamily="34" charset="0"/>
                <a:ea typeface="Calibri" pitchFamily="34" charset="-122"/>
                <a:cs typeface="Calibri" pitchFamily="34" charset="-120"/>
              </a:rPr>
              <a:t>Mínimo 6 pruebas con pytest-django</a:t>
            </a:r>
            <a:endParaRPr lang="en-US" sz="1400" dirty="0"/>
          </a:p>
        </p:txBody>
      </p:sp>
      <p:sp>
        <p:nvSpPr>
          <p:cNvPr id="24" name="fase-5"/>
          <p:cNvSpPr/>
          <p:nvPr/>
        </p:nvSpPr>
        <p:spPr>
          <a:xfrm>
            <a:off x="9607052" y="2011680"/>
            <a:ext cx="2036003" cy="3291840"/>
          </a:xfrm>
          <a:prstGeom prst="roundRect">
            <a:avLst>
              <a:gd name="adj" fmla="val 5389"/>
            </a:avLst>
          </a:prstGeom>
          <a:solidFill>
            <a:srgbClr val="1D3557"/>
          </a:solidFill>
          <a:ln w="12700">
            <a:solidFill>
              <a:srgbClr val="1D3557"/>
            </a:solidFill>
            <a:prstDash val="solid"/>
          </a:ln>
          <a:effectLst>
            <a:outerShdw sx="100000" sy="100000" kx="0" ky="0" algn="bl" rotWithShape="0" blurRad="101600" dist="25400" dir="5400000">
              <a:srgbClr val="1D3557">
                <a:alpha val="12000"/>
              </a:srgbClr>
            </a:outerShdw>
          </a:effectLst>
        </p:spPr>
      </p:sp>
      <p:sp>
        <p:nvSpPr>
          <p:cNvPr id="25" name="Shape 23"/>
          <p:cNvSpPr/>
          <p:nvPr/>
        </p:nvSpPr>
        <p:spPr>
          <a:xfrm>
            <a:off x="9881372" y="2286000"/>
            <a:ext cx="640080" cy="640080"/>
          </a:xfrm>
          <a:prstGeom prst="ellipse">
            <a:avLst/>
          </a:prstGeom>
          <a:solidFill>
            <a:srgbClr val="F77F00"/>
          </a:solidFill>
          <a:ln w="12700">
            <a:solidFill>
              <a:srgbClr val="F77F00"/>
            </a:solidFill>
            <a:prstDash val="solid"/>
          </a:ln>
        </p:spPr>
      </p:sp>
      <p:sp>
        <p:nvSpPr>
          <p:cNvPr id="26" name="Text 24"/>
          <p:cNvSpPr txBox="1"/>
          <p:nvPr/>
        </p:nvSpPr>
        <p:spPr>
          <a:xfrm>
            <a:off x="9881372" y="2286000"/>
            <a:ext cx="640080" cy="640080"/>
          </a:xfrm>
          <a:prstGeom prst="rect">
            <a:avLst/>
          </a:prstGeom>
          <a:noFill/>
          <a:ln/>
        </p:spPr>
        <p:txBody>
          <a:bodyPr wrap="square" lIns="0" tIns="0" rIns="0" bIns="0" rtlCol="0" anchor="ctr"/>
          <a:lstStyle/>
          <a:p>
            <a:pPr algn="ctr" indent="0" marL="0">
              <a:buNone/>
            </a:pPr>
            <a:r>
              <a:rPr lang="en-US" sz="2200" b="1" dirty="0">
                <a:solidFill>
                  <a:srgbClr val="1D3557"/>
                </a:solidFill>
                <a:latin typeface="Calibri" pitchFamily="34" charset="0"/>
                <a:ea typeface="Calibri" pitchFamily="34" charset="-122"/>
                <a:cs typeface="Calibri" pitchFamily="34" charset="-120"/>
              </a:rPr>
              <a:t>5</a:t>
            </a:r>
            <a:endParaRPr lang="en-US" sz="2200" dirty="0"/>
          </a:p>
        </p:txBody>
      </p:sp>
      <p:sp>
        <p:nvSpPr>
          <p:cNvPr id="27" name="Text 25"/>
          <p:cNvSpPr txBox="1"/>
          <p:nvPr/>
        </p:nvSpPr>
        <p:spPr>
          <a:xfrm>
            <a:off x="9881372" y="3154680"/>
            <a:ext cx="1578803" cy="822960"/>
          </a:xfrm>
          <a:prstGeom prst="rect">
            <a:avLst/>
          </a:prstGeom>
          <a:noFill/>
          <a:ln/>
        </p:spPr>
        <p:txBody>
          <a:bodyPr wrap="square" lIns="0" tIns="0" rIns="0" bIns="0" rtlCol="0" anchor="t"/>
          <a:lstStyle/>
          <a:p>
            <a:pPr indent="0" marL="0">
              <a:buNone/>
            </a:pPr>
            <a:r>
              <a:rPr lang="en-US" sz="1800" b="1" dirty="0">
                <a:solidFill>
                  <a:srgbClr val="F8F9FA"/>
                </a:solidFill>
                <a:latin typeface="Calibri" pitchFamily="34" charset="0"/>
                <a:ea typeface="Calibri" pitchFamily="34" charset="-122"/>
                <a:cs typeface="Calibri" pitchFamily="34" charset="-120"/>
              </a:rPr>
              <a:t>Despliegue</a:t>
            </a:r>
            <a:endParaRPr lang="en-US" sz="1800" dirty="0"/>
          </a:p>
        </p:txBody>
      </p:sp>
      <p:sp>
        <p:nvSpPr>
          <p:cNvPr id="28" name="Text 26"/>
          <p:cNvSpPr txBox="1"/>
          <p:nvPr/>
        </p:nvSpPr>
        <p:spPr>
          <a:xfrm>
            <a:off x="9881372" y="4023360"/>
            <a:ext cx="1578803" cy="1097280"/>
          </a:xfrm>
          <a:prstGeom prst="rect">
            <a:avLst/>
          </a:prstGeom>
          <a:noFill/>
          <a:ln/>
        </p:spPr>
        <p:txBody>
          <a:bodyPr wrap="square" lIns="0" tIns="0" rIns="0" bIns="0" rtlCol="0" anchor="t"/>
          <a:lstStyle/>
          <a:p>
            <a:pPr indent="0" marL="0">
              <a:buNone/>
            </a:pPr>
            <a:r>
              <a:rPr lang="en-US" sz="1400" dirty="0">
                <a:solidFill>
                  <a:srgbClr val="DCE6F0"/>
                </a:solidFill>
                <a:latin typeface="Calibri" pitchFamily="34" charset="0"/>
                <a:ea typeface="Calibri" pitchFamily="34" charset="-122"/>
                <a:cs typeface="Calibri" pitchFamily="34" charset="-120"/>
              </a:rPr>
              <a:t>URL pública con HTTPS y README</a:t>
            </a:r>
            <a:endParaRPr lang="en-US" sz="1400" dirty="0"/>
          </a:p>
        </p:txBody>
      </p:sp>
      <p:sp>
        <p:nvSpPr>
          <p:cNvPr id="29" name="Text 27"/>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300" dirty="0">
                <a:solidFill>
                  <a:srgbClr val="4A5B70"/>
                </a:solidFill>
                <a:latin typeface="Calibri" pitchFamily="34" charset="0"/>
                <a:ea typeface="Calibri" pitchFamily="34" charset="-122"/>
                <a:cs typeface="Calibri" pitchFamily="34" charset="-120"/>
              </a:rPr>
              <a:t>Prácticas: una rama de Git por funcionalidad · commits de cada integrante · revisión en equipo al cerrar cada fase.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3557"/>
        </a:solidFill>
      </p:bgPr>
    </p:bg>
    <p:spTree>
      <p:nvGrpSpPr>
        <p:cNvPr id="1" name=""/>
        <p:cNvGrpSpPr/>
        <p:nvPr/>
      </p:nvGrpSpPr>
      <p:grpSpPr>
        <a:xfrm>
          <a:off x="0" y="0"/>
          <a:ext cx="0" cy="0"/>
          <a:chOff x="0" y="0"/>
          <a:chExt cx="0" cy="0"/>
        </a:xfrm>
      </p:grpSpPr>
      <p:sp>
        <p:nvSpPr>
          <p:cNvPr id="2" name="Text 0"/>
          <p:cNvSpPr txBox="1"/>
          <p:nvPr/>
        </p:nvSpPr>
        <p:spPr>
          <a:xfrm>
            <a:off x="548640" y="548640"/>
            <a:ext cx="10058400" cy="320040"/>
          </a:xfrm>
          <a:prstGeom prst="rect">
            <a:avLst/>
          </a:prstGeom>
          <a:noFill/>
          <a:ln/>
        </p:spPr>
        <p:txBody>
          <a:bodyPr wrap="square" lIns="0" tIns="0" rIns="0" bIns="0" rtlCol="0" anchor="t"/>
          <a:lstStyle/>
          <a:p>
            <a:pPr indent="0" marL="0">
              <a:buNone/>
            </a:pPr>
            <a:r>
              <a:rPr lang="en-US" sz="1200" b="1" spc="200" kern="0" dirty="0">
                <a:solidFill>
                  <a:srgbClr val="F77F00"/>
                </a:solidFill>
                <a:latin typeface="Calibri" pitchFamily="34" charset="0"/>
                <a:ea typeface="Calibri" pitchFamily="34" charset="-122"/>
                <a:cs typeface="Calibri" pitchFamily="34" charset="-120"/>
              </a:rPr>
              <a:t>PREGUNTA DE CONTROL</a:t>
            </a:r>
            <a:endParaRPr lang="en-US" sz="1200" dirty="0"/>
          </a:p>
        </p:txBody>
      </p:sp>
      <p:sp>
        <p:nvSpPr>
          <p:cNvPr id="3" name="Text 1"/>
          <p:cNvSpPr txBox="1"/>
          <p:nvPr/>
        </p:nvSpPr>
        <p:spPr>
          <a:xfrm>
            <a:off x="548640" y="914400"/>
            <a:ext cx="10515600" cy="914400"/>
          </a:xfrm>
          <a:prstGeom prst="rect">
            <a:avLst/>
          </a:prstGeom>
          <a:noFill/>
          <a:ln/>
        </p:spPr>
        <p:txBody>
          <a:bodyPr wrap="square" lIns="0" tIns="0" rIns="0" bIns="0" rtlCol="0" anchor="t"/>
          <a:lstStyle/>
          <a:p>
            <a:pPr indent="0" marL="0">
              <a:buNone/>
            </a:pPr>
            <a:r>
              <a:rPr lang="en-US" sz="3600" b="1" dirty="0">
                <a:solidFill>
                  <a:srgbClr val="F8F9FA"/>
                </a:solidFill>
                <a:latin typeface="Calibri" pitchFamily="34" charset="0"/>
                <a:ea typeface="Calibri" pitchFamily="34" charset="-122"/>
                <a:cs typeface="Calibri" pitchFamily="34" charset="-120"/>
              </a:rPr>
              <a:t>¿Qué evidencia demuestra que el problema existe?</a:t>
            </a:r>
            <a:endParaRPr lang="en-US" sz="3600" dirty="0"/>
          </a:p>
        </p:txBody>
      </p:sp>
      <p:sp>
        <p:nvSpPr>
          <p:cNvPr id="4" name="Text 2"/>
          <p:cNvSpPr txBox="1"/>
          <p:nvPr/>
        </p:nvSpPr>
        <p:spPr>
          <a:xfrm>
            <a:off x="548640" y="1965960"/>
            <a:ext cx="10515600" cy="1188720"/>
          </a:xfrm>
          <a:prstGeom prst="rect">
            <a:avLst/>
          </a:prstGeom>
          <a:noFill/>
          <a:ln/>
        </p:spPr>
        <p:txBody>
          <a:bodyPr wrap="square" lIns="0" tIns="0" rIns="0" bIns="0" rtlCol="0" anchor="t"/>
          <a:lstStyle/>
          <a:p>
            <a:pPr indent="0" marL="0">
              <a:lnSpc>
                <a:spcPct val="115000"/>
              </a:lnSpc>
              <a:buNone/>
            </a:pPr>
            <a:r>
              <a:rPr lang="en-US" sz="2000" dirty="0">
                <a:solidFill>
                  <a:srgbClr val="DCE6F0"/>
                </a:solidFill>
                <a:latin typeface="Calibri" pitchFamily="34" charset="0"/>
                <a:ea typeface="Calibri" pitchFamily="34" charset="-122"/>
                <a:cs typeface="Calibri" pitchFamily="34" charset="-120"/>
              </a:rPr>
              <a:t>Más de 200 eventos y 671 gestores difundiendo por separado; 28% de inscritos que no llegan a eventos gratuitos; y sanciones de la SIC por usar datos sin autorización.</a:t>
            </a:r>
            <a:endParaRPr lang="en-US" sz="2000" dirty="0"/>
          </a:p>
        </p:txBody>
      </p:sp>
      <p:sp>
        <p:nvSpPr>
          <p:cNvPr id="5" name="Text 3"/>
          <p:cNvSpPr txBox="1"/>
          <p:nvPr/>
        </p:nvSpPr>
        <p:spPr>
          <a:xfrm>
            <a:off x="548640" y="3931920"/>
            <a:ext cx="5120640" cy="411480"/>
          </a:xfrm>
          <a:prstGeom prst="rect">
            <a:avLst/>
          </a:prstGeom>
          <a:noFill/>
          <a:ln/>
        </p:spPr>
        <p:txBody>
          <a:bodyPr wrap="square" lIns="0" tIns="0" rIns="0" bIns="0" rtlCol="0" anchor="t"/>
          <a:lstStyle/>
          <a:p>
            <a:pPr indent="0" marL="0">
              <a:buNone/>
            </a:pPr>
            <a:r>
              <a:rPr lang="en-US" sz="1800" b="1" dirty="0">
                <a:solidFill>
                  <a:srgbClr val="F77F00"/>
                </a:solidFill>
                <a:latin typeface="Calibri" pitchFamily="34" charset="0"/>
                <a:ea typeface="Calibri" pitchFamily="34" charset="-122"/>
                <a:cs typeface="Calibri" pitchFamily="34" charset="-120"/>
              </a:rPr>
              <a:t>Entregamos hoy</a:t>
            </a:r>
            <a:endParaRPr lang="en-US" sz="1800" dirty="0"/>
          </a:p>
        </p:txBody>
      </p:sp>
      <p:sp>
        <p:nvSpPr>
          <p:cNvPr id="6" name="Text 4"/>
          <p:cNvSpPr txBox="1"/>
          <p:nvPr/>
        </p:nvSpPr>
        <p:spPr>
          <a:xfrm>
            <a:off x="548640" y="4434840"/>
            <a:ext cx="512064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8F9FA"/>
                </a:solidFill>
                <a:latin typeface="Calibri" pitchFamily="34" charset="0"/>
                <a:ea typeface="Calibri" pitchFamily="34" charset="-122"/>
                <a:cs typeface="Calibri" pitchFamily="34" charset="-120"/>
              </a:rPr>
              <a:t>Ficha del proyecto</a:t>
            </a:r>
            <a:endParaRPr lang="en-US" sz="1600" dirty="0"/>
          </a:p>
          <a:p>
            <a:pPr marL="342900" indent="-342900">
              <a:spcAft>
                <a:spcPts val="600"/>
              </a:spcAft>
              <a:buSzPct val="100000"/>
              <a:buChar char="•"/>
            </a:pPr>
            <a:r>
              <a:rPr lang="en-US" sz="1600" dirty="0">
                <a:solidFill>
                  <a:srgbClr val="F8F9FA"/>
                </a:solidFill>
                <a:latin typeface="Calibri" pitchFamily="34" charset="0"/>
                <a:ea typeface="Calibri" pitchFamily="34" charset="-122"/>
                <a:cs typeface="Calibri" pitchFamily="34" charset="-120"/>
              </a:rPr>
              <a:t>Esqueleto de 6 pantallas, publicado en Vercel</a:t>
            </a:r>
            <a:endParaRPr lang="en-US" sz="1600" dirty="0"/>
          </a:p>
          <a:p>
            <a:pPr marL="342900" indent="-342900">
              <a:spcAft>
                <a:spcPts val="600"/>
              </a:spcAft>
              <a:buSzPct val="100000"/>
              <a:buChar char="•"/>
            </a:pPr>
            <a:r>
              <a:rPr lang="en-US" sz="1600" dirty="0">
                <a:solidFill>
                  <a:srgbClr val="F8F9FA"/>
                </a:solidFill>
                <a:latin typeface="Calibri" pitchFamily="34" charset="0"/>
                <a:ea typeface="Calibri" pitchFamily="34" charset="-122"/>
                <a:cs typeface="Calibri" pitchFamily="34" charset="-120"/>
              </a:rPr>
              <a:t>MVP funcionando en Django</a:t>
            </a:r>
            <a:endParaRPr lang="en-US" sz="1600" dirty="0"/>
          </a:p>
          <a:p>
            <a:pPr marL="342900" indent="-342900">
              <a:spcAft>
                <a:spcPts val="600"/>
              </a:spcAft>
              <a:buSzPct val="100000"/>
              <a:buChar char="•"/>
            </a:pPr>
            <a:r>
              <a:rPr lang="en-US" sz="1600" dirty="0">
                <a:solidFill>
                  <a:srgbClr val="F8F9FA"/>
                </a:solidFill>
                <a:latin typeface="Calibri" pitchFamily="34" charset="0"/>
                <a:ea typeface="Calibri" pitchFamily="34" charset="-122"/>
                <a:cs typeface="Calibri" pitchFamily="34" charset="-120"/>
              </a:rPr>
              <a:t>Esta presentación</a:t>
            </a:r>
            <a:endParaRPr lang="en-US" sz="1600" dirty="0"/>
          </a:p>
        </p:txBody>
      </p:sp>
      <p:sp>
        <p:nvSpPr>
          <p:cNvPr id="7" name="Text 5"/>
          <p:cNvSpPr txBox="1"/>
          <p:nvPr/>
        </p:nvSpPr>
        <p:spPr>
          <a:xfrm>
            <a:off x="6217920" y="3931920"/>
            <a:ext cx="5120640" cy="411480"/>
          </a:xfrm>
          <a:prstGeom prst="rect">
            <a:avLst/>
          </a:prstGeom>
          <a:noFill/>
          <a:ln/>
        </p:spPr>
        <p:txBody>
          <a:bodyPr wrap="square" lIns="0" tIns="0" rIns="0" bIns="0" rtlCol="0" anchor="t"/>
          <a:lstStyle/>
          <a:p>
            <a:pPr indent="0" marL="0">
              <a:buNone/>
            </a:pPr>
            <a:r>
              <a:rPr lang="en-US" sz="1800" b="1" dirty="0">
                <a:solidFill>
                  <a:srgbClr val="F77F00"/>
                </a:solidFill>
                <a:latin typeface="Calibri" pitchFamily="34" charset="0"/>
                <a:ea typeface="Calibri" pitchFamily="34" charset="-122"/>
                <a:cs typeface="Calibri" pitchFamily="34" charset="-120"/>
              </a:rPr>
              <a:t>Siguiente paso</a:t>
            </a:r>
            <a:endParaRPr lang="en-US" sz="1800" dirty="0"/>
          </a:p>
        </p:txBody>
      </p:sp>
      <p:sp>
        <p:nvSpPr>
          <p:cNvPr id="8" name="Text 6"/>
          <p:cNvSpPr txBox="1"/>
          <p:nvPr/>
        </p:nvSpPr>
        <p:spPr>
          <a:xfrm>
            <a:off x="6217920" y="4434840"/>
            <a:ext cx="512064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8F9FA"/>
                </a:solidFill>
                <a:latin typeface="Calibri" pitchFamily="34" charset="0"/>
                <a:ea typeface="Calibri" pitchFamily="34" charset="-122"/>
                <a:cs typeface="Calibri" pitchFamily="34" charset="-120"/>
              </a:rPr>
              <a:t>Encuesta a mínimo 30 cartageneros</a:t>
            </a:r>
            <a:endParaRPr lang="en-US" sz="1600" dirty="0"/>
          </a:p>
          <a:p>
            <a:pPr marL="342900" indent="-342900">
              <a:spcAft>
                <a:spcPts val="600"/>
              </a:spcAft>
              <a:buSzPct val="100000"/>
              <a:buChar char="•"/>
            </a:pPr>
            <a:r>
              <a:rPr lang="en-US" sz="1600" dirty="0">
                <a:solidFill>
                  <a:srgbClr val="F8F9FA"/>
                </a:solidFill>
                <a:latin typeface="Calibri" pitchFamily="34" charset="0"/>
                <a:ea typeface="Calibri" pitchFamily="34" charset="-122"/>
                <a:cs typeface="Calibri" pitchFamily="34" charset="-120"/>
              </a:rPr>
              <a:t>Entrevistas a 2 o 3 organizadores</a:t>
            </a:r>
            <a:endParaRPr lang="en-US" sz="1600" dirty="0"/>
          </a:p>
          <a:p>
            <a:pPr marL="342900" indent="-342900">
              <a:spcAft>
                <a:spcPts val="600"/>
              </a:spcAft>
              <a:buSzPct val="100000"/>
              <a:buChar char="•"/>
            </a:pPr>
            <a:r>
              <a:rPr lang="en-US" sz="1600" dirty="0">
                <a:solidFill>
                  <a:srgbClr val="F8F9FA"/>
                </a:solidFill>
                <a:latin typeface="Calibri" pitchFamily="34" charset="0"/>
                <a:ea typeface="Calibri" pitchFamily="34" charset="-122"/>
                <a:cs typeface="Calibri" pitchFamily="34" charset="-120"/>
              </a:rPr>
              <a:t>Conectar el MVP a MySQL y desplegarlo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Cartaviva · Entregable 1</dc:title>
  <dc:subject>PptxGenJS Presentation</dc:subject>
  <dc:creator>Equipo Cartaviva</dc:creator>
  <cp:lastModifiedBy>Equipo Cartaviva</cp:lastModifiedBy>
  <cp:revision>1</cp:revision>
  <dcterms:created xsi:type="dcterms:W3CDTF">2026-10-21T15:35:42Z</dcterms:created>
  <dcterms:modified xsi:type="dcterms:W3CDTF">2026-10-21T15:35:42Z</dcterms:modified>
</cp:coreProperties>
</file>